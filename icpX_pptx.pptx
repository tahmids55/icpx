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66" r:id="rId3"/>
    <p:sldId id="267" r:id="rId4"/>
    <p:sldId id="257" r:id="rId5"/>
    <p:sldId id="258" r:id="rId6"/>
    <p:sldId id="269" r:id="rId7"/>
    <p:sldId id="268" r:id="rId8"/>
    <p:sldId id="264" r:id="rId9"/>
    <p:sldId id="259" r:id="rId10"/>
    <p:sldId id="260" r:id="rId11"/>
    <p:sldId id="261" r:id="rId12"/>
    <p:sldId id="262" r:id="rId13"/>
    <p:sldId id="270" r:id="rId14"/>
    <p:sldId id="271" r:id="rId15"/>
    <p:sldId id="272" r:id="rId16"/>
    <p:sldId id="273" r:id="rId17"/>
    <p:sldId id="274" r:id="rId18"/>
    <p:sldId id="275" r:id="rId19"/>
    <p:sldId id="276" r:id="rId20"/>
    <p:sldId id="280" r:id="rId21"/>
    <p:sldId id="278" r:id="rId22"/>
    <p:sldId id="277" r:id="rId23"/>
    <p:sldId id="279" r:id="rId24"/>
    <p:sldId id="281" r:id="rId25"/>
    <p:sldId id="282" r:id="rId26"/>
    <p:sldId id="284" r:id="rId27"/>
    <p:sldId id="285" r:id="rId28"/>
    <p:sldId id="286" r:id="rId29"/>
  </p:sldIdLst>
  <p:sldSz cx="14630400" cy="8229600"/>
  <p:notesSz cx="8229600" cy="14630400"/>
  <p:embeddedFontLst>
    <p:embeddedFont>
      <p:font typeface="Inter"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646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369FE-595A-608B-EB72-034BB68E9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D037C-D58F-F6EC-E7ED-558D3C363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ECA09-8E01-345F-3660-9D0160C30B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6D6952-1A26-4523-E2BB-C8ED08DA677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56373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D201-017F-337C-6BAC-78043CBEE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F62B1-82AF-E508-E261-91378EB9D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2729F-98BE-F0D6-0938-CB147133BA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958777-4074-B1FC-F3FA-655D5C55018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18500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48F3-BBEE-8A5F-7C74-3D14BECD4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58133-BB99-563D-75F7-7326004D9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25C7C-F501-0195-9469-55791BA5E9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22DAB3-95FF-03D1-A817-2AEAFBB8A5A9}"/>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16370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9A728-4227-F071-C20A-53BEFC881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495F2A-8EA2-0C60-9C2A-E49ED46EE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986F93-76E2-F847-7CF6-18543266E3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0A8332-60EB-C705-11EF-659589177C7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61199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775B-CB79-0029-8A86-F4397FA05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22B18-0105-D110-3396-0D07DA5BE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F2C19-0A50-C62B-1A05-C3563806C5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0AF7D5-0E64-6A0D-FE8C-160C8EE0EBD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265730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DE05-976F-B425-99CE-091FBE2E5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B84B9-5F24-57D7-6EA5-1A09A334C1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74B1D-2B6E-0945-B3B3-3A3D410F47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160A61-81CB-C327-FB28-7CDE05A0C9A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803932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B2ED2-1B60-8C38-E133-1FB9C2169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A74B2-456A-63CA-518E-49AB173B19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62495-98F7-CD16-3A14-A336E99D85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895833-97DF-0986-9286-30F9AB0F4F6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08853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7C09E-981D-68D5-E175-752B8B932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CEE9D-223F-CDAB-4DF4-7D1B345EA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E9CD8-3379-A738-F81C-A8490A308B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59CA2C-9A63-5D78-31BC-CADFC3653FEB}"/>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81392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A530E-95EB-8C41-14A1-59C336007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CA9C4-3A34-8ADF-D250-082031223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BDD7F-0DE1-D5BE-A495-50D0534752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48036E-1D85-7E08-328C-ABCE5116893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13775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10BA-00DB-AC37-328B-7715EC7BA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5A9A3-1807-5062-FDAB-94947D453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39CA91-0021-F2FE-3561-E87BF011C9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7A2487-EC63-7B95-648E-BB30D88DBE0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9370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7BBF-8223-2527-184E-1CA5292B3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0350A-EFD8-DF63-C7C4-63BE0C68D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143F0-5B09-142C-1872-C69C20E03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DAC2B-E41C-FF1D-D5FF-C3B797FDEBC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50036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E5E91-AA8C-AC9D-93DA-AF11A69F1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38F7E-B2FF-0166-6A59-93DAAE1C7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5AE34-4265-6CD3-F3B2-7E7A9E45B1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CA596F-FFBB-BB97-06CD-5FBDD736EB94}"/>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639016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2B1BF-DAC5-27AD-E43E-64D2382EA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432AD-D618-9D1A-A9A9-0D9E9DC5E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09443F-5D17-0074-4F72-2771B009E0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64B2D5-D8EF-BB9C-E389-3CFB668A200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949320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845AB-329B-3B2A-68DF-FA85A3E56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4A72F-27D3-7AE0-C0FB-152C3E359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4CC5C-4AE5-A71A-975A-27CED8088C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A3934-1698-32D7-CE6F-45382004632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220529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E0B0-4B74-5F73-78E1-40F047C1A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4E0B1-B835-2C36-E8D5-09D2CC8FE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AFE07-4215-4B19-EA4E-DD02D7B44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F55C4-5922-F62A-71D9-1542128934B6}"/>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456778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3D418-3CCE-1286-33E5-A502B6195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1830D-89C9-0DC6-4019-791FAF8D2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7B9DA-C0CA-88A7-3B75-97A491DC30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AADDD1-1D81-5A38-BB60-14245A1C1A09}"/>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1627956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FE6DB-0AA1-8221-CEFF-9425DC7E3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A8B7C-0ACE-AF75-7607-24FBA2187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6ED67-278E-A408-5CD0-DE4B51167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63575-A728-00F1-3AF0-8D32C353FDB2}"/>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43085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A17E6-7719-3B1E-43F2-97BBA2B99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0A718-7EC6-B8CC-60AB-294DBDEEE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4CB32-4761-6B4D-4341-15BB952EF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DD2269-75C9-4409-A7FB-5A90999C085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593363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F8E61-3636-E28E-4B38-DD1976A51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AC45B-1CDA-3E5D-66F1-687B5A459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7B37E-ECD7-0260-E082-688929D6C4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ECE4F4-10B0-4BF9-6879-D336806BAAC7}"/>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886770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9813A-C9C4-E939-FC84-65C8C0927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77BF3-B355-EFF0-88EF-080DDCF41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43807-D2EC-ED79-2EAA-9C8ADE13A5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B6F7B-D7BD-2BCD-7DBC-34405D73EDA7}"/>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580991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jp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g"/><Relationship Id="rId7"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jpg"/><Relationship Id="rId7"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s://drive.google.com/file/d/1chPj2BqoD5xLwggqrCpw0oqCQovugrdI/view?usp=drive_link" TargetMode="Externa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drive.google.com/file/d/12H9VhmFxYAX_viQ-16lSGhJNredtCRVm/view?usp=sharing" TargetMode="External"/><Relationship Id="rId4" Type="http://schemas.openxmlformats.org/officeDocument/2006/relationships/hyperlink" Target="https://drive.google.com/file/d/1chPj2BqoD5xLwggqrCpw0oqCQovugrdI/view?usp=drive_lin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BDEE80FA-0DAE-1C57-63E9-43A6EA53029F}"/>
              </a:ext>
            </a:extLst>
          </p:cNvPr>
          <p:cNvPicPr>
            <a:picLocks noChangeAspect="1"/>
          </p:cNvPicPr>
          <p:nvPr/>
        </p:nvPicPr>
        <p:blipFill>
          <a:blip r:embed="rId3"/>
          <a:stretch>
            <a:fillRect/>
          </a:stretch>
        </p:blipFill>
        <p:spPr>
          <a:xfrm>
            <a:off x="-97971" y="-827843"/>
            <a:ext cx="15011400" cy="9057443"/>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chemeClr val="bg1"/>
                </a:solidFill>
                <a:latin typeface="Inter Bold" pitchFamily="34" charset="0"/>
                <a:ea typeface="Inter Bold" pitchFamily="34" charset="-122"/>
                <a:cs typeface="Inter Bold" pitchFamily="34" charset="-120"/>
              </a:rPr>
              <a:t>icpX: Elevating Competitive Programming</a:t>
            </a:r>
            <a:endParaRPr lang="en-US" sz="4450" dirty="0">
              <a:solidFill>
                <a:schemeClr val="bg1"/>
              </a:solidFill>
            </a:endParaRPr>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itchFamily="34" charset="0"/>
                <a:ea typeface="Inter" pitchFamily="34" charset="-122"/>
                <a:cs typeface="Inter" pitchFamily="34" charset="-120"/>
              </a:rPr>
              <a:t>icpX is a powerful cross-platform application meticulously designed for competitive programmers. It offers comprehensive tools to track, manage, and analyze problem-solving progress, with seamless integration for Codeforces and cloud synchronization across devices.</a:t>
            </a:r>
            <a:endParaRPr lang="en-US" sz="1750" dirty="0">
              <a:solidFill>
                <a:schemeClr val="bg1"/>
              </a:solidFill>
            </a:endParaRPr>
          </a:p>
        </p:txBody>
      </p:sp>
      <p:pic>
        <p:nvPicPr>
          <p:cNvPr id="8" name="Picture 7" descr="A screenshot of a cell phone&#10;&#10;AI-generated content may be incorrect.">
            <a:extLst>
              <a:ext uri="{FF2B5EF4-FFF2-40B4-BE49-F238E27FC236}">
                <a16:creationId xmlns:a16="http://schemas.microsoft.com/office/drawing/2014/main" id="{925AD069-3F5D-CEAE-9EAB-5A5F7FD99B5B}"/>
              </a:ext>
            </a:extLst>
          </p:cNvPr>
          <p:cNvPicPr>
            <a:picLocks noChangeAspect="1"/>
          </p:cNvPicPr>
          <p:nvPr/>
        </p:nvPicPr>
        <p:blipFill>
          <a:blip r:embed="rId4"/>
          <a:stretch>
            <a:fillRect/>
          </a:stretch>
        </p:blipFill>
        <p:spPr>
          <a:xfrm>
            <a:off x="9856712" y="898987"/>
            <a:ext cx="3180319" cy="6737616"/>
          </a:xfrm>
          <a:prstGeom prst="roundRect">
            <a:avLst/>
          </a:prstGeom>
          <a:ln>
            <a:solidFill>
              <a:srgbClr val="002060"/>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0B0CD-9512-19AC-F9AD-4844C1B5E221}"/>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1F73EA60-BD07-D3B3-1F89-6D3FAB0FA1CF}"/>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12FDFC50-51CC-A5B1-36AE-0FBD73C6787B}"/>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330DD784-9D27-E1B7-57A5-A36E9681BC49}"/>
              </a:ext>
            </a:extLst>
          </p:cNvPr>
          <p:cNvSpPr txBox="1"/>
          <p:nvPr/>
        </p:nvSpPr>
        <p:spPr>
          <a:xfrm>
            <a:off x="3023341" y="3276398"/>
            <a:ext cx="8373511" cy="1015663"/>
          </a:xfrm>
          <a:prstGeom prst="rect">
            <a:avLst/>
          </a:prstGeom>
          <a:noFill/>
        </p:spPr>
        <p:txBody>
          <a:bodyPr wrap="none" rtlCol="0">
            <a:spAutoFit/>
          </a:bodyPr>
          <a:lstStyle/>
          <a:p>
            <a:r>
              <a:rPr lang="en-US" sz="6000" dirty="0">
                <a:solidFill>
                  <a:schemeClr val="bg1"/>
                </a:solidFill>
              </a:rPr>
              <a:t>Why do you use this app?</a:t>
            </a:r>
          </a:p>
        </p:txBody>
      </p:sp>
    </p:spTree>
    <p:extLst>
      <p:ext uri="{BB962C8B-B14F-4D97-AF65-F5344CB8AC3E}">
        <p14:creationId xmlns:p14="http://schemas.microsoft.com/office/powerpoint/2010/main" val="392361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88619-5B8E-D5CE-BE06-23049EB70516}"/>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CE6CCA8A-5492-0CE2-643A-B2FACE0A3A5B}"/>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780B3EB4-0F52-BAA0-84DB-95A9A8F4778E}"/>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2E763B54-0D2A-A620-FF9C-A7751B9588A1}"/>
              </a:ext>
            </a:extLst>
          </p:cNvPr>
          <p:cNvSpPr txBox="1"/>
          <p:nvPr/>
        </p:nvSpPr>
        <p:spPr>
          <a:xfrm>
            <a:off x="1672039" y="859018"/>
            <a:ext cx="6158168" cy="1631216"/>
          </a:xfrm>
          <a:prstGeom prst="rect">
            <a:avLst/>
          </a:prstGeom>
          <a:noFill/>
        </p:spPr>
        <p:txBody>
          <a:bodyPr wrap="square" rtlCol="0">
            <a:spAutoFit/>
          </a:bodyPr>
          <a:lstStyle/>
          <a:p>
            <a:r>
              <a:rPr lang="en-US" sz="5000" dirty="0">
                <a:solidFill>
                  <a:schemeClr val="bg1"/>
                </a:solidFill>
              </a:rPr>
              <a:t>Problem : Inconsistency in CP </a:t>
            </a:r>
          </a:p>
        </p:txBody>
      </p:sp>
      <p:sp>
        <p:nvSpPr>
          <p:cNvPr id="3" name="Hexagon 2">
            <a:extLst>
              <a:ext uri="{FF2B5EF4-FFF2-40B4-BE49-F238E27FC236}">
                <a16:creationId xmlns:a16="http://schemas.microsoft.com/office/drawing/2014/main" id="{9853CB52-2370-2DE0-D200-1D6ACD8E495E}"/>
              </a:ext>
            </a:extLst>
          </p:cNvPr>
          <p:cNvSpPr/>
          <p:nvPr/>
        </p:nvSpPr>
        <p:spPr>
          <a:xfrm>
            <a:off x="1034771" y="1037694"/>
            <a:ext cx="637267" cy="549368"/>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CFC083C-8506-F986-906F-33131DA83E48}"/>
              </a:ext>
            </a:extLst>
          </p:cNvPr>
          <p:cNvSpPr txBox="1"/>
          <p:nvPr/>
        </p:nvSpPr>
        <p:spPr>
          <a:xfrm>
            <a:off x="1767287" y="3130173"/>
            <a:ext cx="8802413" cy="1631216"/>
          </a:xfrm>
          <a:prstGeom prst="rect">
            <a:avLst/>
          </a:prstGeom>
          <a:noFill/>
        </p:spPr>
        <p:txBody>
          <a:bodyPr wrap="square">
            <a:spAutoFit/>
          </a:bodyPr>
          <a:lstStyle/>
          <a:p>
            <a:r>
              <a:rPr lang="en-US" sz="5000" dirty="0">
                <a:solidFill>
                  <a:schemeClr val="bg1"/>
                </a:solidFill>
              </a:rPr>
              <a:t>Solution : </a:t>
            </a:r>
          </a:p>
          <a:p>
            <a:r>
              <a:rPr lang="en-US" sz="5000" dirty="0">
                <a:solidFill>
                  <a:schemeClr val="bg1"/>
                </a:solidFill>
              </a:rPr>
              <a:t>This App </a:t>
            </a:r>
          </a:p>
        </p:txBody>
      </p:sp>
      <p:sp>
        <p:nvSpPr>
          <p:cNvPr id="8" name="Hexagon 7">
            <a:extLst>
              <a:ext uri="{FF2B5EF4-FFF2-40B4-BE49-F238E27FC236}">
                <a16:creationId xmlns:a16="http://schemas.microsoft.com/office/drawing/2014/main" id="{CEA3D149-3370-1818-DE8A-519D861F7451}"/>
              </a:ext>
            </a:extLst>
          </p:cNvPr>
          <p:cNvSpPr/>
          <p:nvPr/>
        </p:nvSpPr>
        <p:spPr>
          <a:xfrm>
            <a:off x="1034770" y="3315278"/>
            <a:ext cx="637267" cy="549368"/>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28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C9B2395-E404-E6F3-BB25-921B4F2A7456}"/>
              </a:ext>
            </a:extLst>
          </p:cNvPr>
          <p:cNvPicPr>
            <a:picLocks noChangeAspect="1"/>
          </p:cNvPicPr>
          <p:nvPr/>
        </p:nvPicPr>
        <p:blipFill>
          <a:blip r:embed="rId3"/>
          <a:stretch>
            <a:fillRect/>
          </a:stretch>
        </p:blipFill>
        <p:spPr>
          <a:xfrm>
            <a:off x="-138996" y="-809098"/>
            <a:ext cx="15462606" cy="9053774"/>
          </a:xfrm>
          <a:prstGeom prst="rect">
            <a:avLst/>
          </a:prstGeom>
        </p:spPr>
      </p:pic>
      <p:sp>
        <p:nvSpPr>
          <p:cNvPr id="2" name="Text 0"/>
          <p:cNvSpPr/>
          <p:nvPr/>
        </p:nvSpPr>
        <p:spPr>
          <a:xfrm>
            <a:off x="411242" y="323136"/>
            <a:ext cx="4679275" cy="293727"/>
          </a:xfrm>
          <a:prstGeom prst="rect">
            <a:avLst/>
          </a:prstGeom>
          <a:noFill/>
          <a:ln/>
        </p:spPr>
        <p:txBody>
          <a:bodyPr wrap="none" lIns="0" tIns="0" rIns="0" bIns="0" rtlCol="0" anchor="t"/>
          <a:lstStyle/>
          <a:p>
            <a:pPr marL="0" indent="0" algn="l">
              <a:lnSpc>
                <a:spcPts val="2300"/>
              </a:lnSpc>
              <a:buNone/>
            </a:pPr>
            <a:r>
              <a:rPr lang="en-US" sz="1850" b="1" dirty="0">
                <a:solidFill>
                  <a:schemeClr val="bg1"/>
                </a:solidFill>
                <a:latin typeface="Inter Bold" pitchFamily="34" charset="0"/>
                <a:ea typeface="Inter Bold" pitchFamily="34" charset="-122"/>
                <a:cs typeface="Inter Bold" pitchFamily="34" charset="-120"/>
              </a:rPr>
              <a:t>A Unified Experience: Android &amp; Desktop</a:t>
            </a:r>
            <a:endParaRPr lang="en-US" sz="1850" dirty="0">
              <a:solidFill>
                <a:schemeClr val="bg1"/>
              </a:solidFill>
            </a:endParaRPr>
          </a:p>
        </p:txBody>
      </p:sp>
      <p:sp>
        <p:nvSpPr>
          <p:cNvPr id="4" name="Text 1"/>
          <p:cNvSpPr/>
          <p:nvPr/>
        </p:nvSpPr>
        <p:spPr>
          <a:xfrm>
            <a:off x="1407836" y="7501489"/>
            <a:ext cx="1468755" cy="183594"/>
          </a:xfrm>
          <a:prstGeom prst="rect">
            <a:avLst/>
          </a:prstGeom>
          <a:noFill/>
          <a:ln/>
        </p:spPr>
        <p:txBody>
          <a:bodyPr wrap="none" lIns="0" tIns="0" rIns="0" bIns="0" rtlCol="0" anchor="t"/>
          <a:lstStyle/>
          <a:p>
            <a:pPr marL="0" indent="0" algn="l">
              <a:lnSpc>
                <a:spcPts val="1400"/>
              </a:lnSpc>
              <a:buNone/>
            </a:pPr>
            <a:r>
              <a:rPr lang="en-US" sz="1150" b="1" dirty="0">
                <a:solidFill>
                  <a:schemeClr val="bg1"/>
                </a:solidFill>
                <a:latin typeface="Inter Bold" pitchFamily="34" charset="0"/>
                <a:ea typeface="Inter Bold" pitchFamily="34" charset="-122"/>
                <a:cs typeface="Inter Bold" pitchFamily="34" charset="-120"/>
              </a:rPr>
              <a:t>Android Application</a:t>
            </a:r>
            <a:endParaRPr lang="en-US" sz="1150" dirty="0">
              <a:solidFill>
                <a:schemeClr val="bg1"/>
              </a:solidFill>
            </a:endParaRPr>
          </a:p>
        </p:txBody>
      </p:sp>
      <p:sp>
        <p:nvSpPr>
          <p:cNvPr id="7" name="Text 3"/>
          <p:cNvSpPr/>
          <p:nvPr/>
        </p:nvSpPr>
        <p:spPr>
          <a:xfrm>
            <a:off x="7466171" y="7818001"/>
            <a:ext cx="1827967" cy="183594"/>
          </a:xfrm>
          <a:prstGeom prst="rect">
            <a:avLst/>
          </a:prstGeom>
          <a:noFill/>
          <a:ln/>
        </p:spPr>
        <p:txBody>
          <a:bodyPr wrap="none" lIns="0" tIns="0" rIns="0" bIns="0" rtlCol="0" anchor="t"/>
          <a:lstStyle/>
          <a:p>
            <a:pPr marL="0" indent="0" algn="l">
              <a:lnSpc>
                <a:spcPts val="1400"/>
              </a:lnSpc>
              <a:buNone/>
            </a:pPr>
            <a:r>
              <a:rPr lang="en-US" sz="1150" b="1" dirty="0">
                <a:solidFill>
                  <a:srgbClr val="000000"/>
                </a:solidFill>
                <a:latin typeface="Inter Bold" pitchFamily="34" charset="0"/>
                <a:ea typeface="Inter Bold" pitchFamily="34" charset="-122"/>
                <a:cs typeface="Inter Bold" pitchFamily="34" charset="-120"/>
              </a:rPr>
              <a:t>Java Desktop Application</a:t>
            </a:r>
            <a:endParaRPr lang="en-US" sz="1150" dirty="0"/>
          </a:p>
        </p:txBody>
      </p:sp>
      <p:pic>
        <p:nvPicPr>
          <p:cNvPr id="6" name="Picture 5">
            <a:extLst>
              <a:ext uri="{FF2B5EF4-FFF2-40B4-BE49-F238E27FC236}">
                <a16:creationId xmlns:a16="http://schemas.microsoft.com/office/drawing/2014/main" id="{343ED679-25B5-108B-3D61-D50CD0A68953}"/>
              </a:ext>
            </a:extLst>
          </p:cNvPr>
          <p:cNvPicPr>
            <a:picLocks noChangeAspect="1"/>
          </p:cNvPicPr>
          <p:nvPr/>
        </p:nvPicPr>
        <p:blipFill>
          <a:blip r:embed="rId4"/>
          <a:stretch>
            <a:fillRect/>
          </a:stretch>
        </p:blipFill>
        <p:spPr>
          <a:xfrm>
            <a:off x="5567456" y="1849821"/>
            <a:ext cx="7957215" cy="4283378"/>
          </a:xfrm>
          <a:prstGeom prst="rect">
            <a:avLst/>
          </a:prstGeom>
        </p:spPr>
      </p:pic>
      <p:pic>
        <p:nvPicPr>
          <p:cNvPr id="10" name="Picture 9">
            <a:extLst>
              <a:ext uri="{FF2B5EF4-FFF2-40B4-BE49-F238E27FC236}">
                <a16:creationId xmlns:a16="http://schemas.microsoft.com/office/drawing/2014/main" id="{FE40018F-69A2-17CC-C658-BBAE3D8B09C2}"/>
              </a:ext>
            </a:extLst>
          </p:cNvPr>
          <p:cNvPicPr>
            <a:picLocks noChangeAspect="1"/>
          </p:cNvPicPr>
          <p:nvPr/>
        </p:nvPicPr>
        <p:blipFill>
          <a:blip r:embed="rId5"/>
          <a:stretch>
            <a:fillRect/>
          </a:stretch>
        </p:blipFill>
        <p:spPr>
          <a:xfrm>
            <a:off x="697461" y="800457"/>
            <a:ext cx="3086464" cy="6621868"/>
          </a:xfrm>
          <a:prstGeom prst="roundRect">
            <a:avLst/>
          </a:prstGeom>
        </p:spPr>
      </p:pic>
      <p:sp>
        <p:nvSpPr>
          <p:cNvPr id="18" name="TextBox 17">
            <a:extLst>
              <a:ext uri="{FF2B5EF4-FFF2-40B4-BE49-F238E27FC236}">
                <a16:creationId xmlns:a16="http://schemas.microsoft.com/office/drawing/2014/main" id="{E9D439E2-826A-85D0-490C-9F6792B2D111}"/>
              </a:ext>
            </a:extLst>
          </p:cNvPr>
          <p:cNvSpPr txBox="1"/>
          <p:nvPr/>
        </p:nvSpPr>
        <p:spPr>
          <a:xfrm>
            <a:off x="8232228" y="6236438"/>
            <a:ext cx="7803930" cy="286682"/>
          </a:xfrm>
          <a:prstGeom prst="rect">
            <a:avLst/>
          </a:prstGeom>
          <a:noFill/>
        </p:spPr>
        <p:txBody>
          <a:bodyPr wrap="square">
            <a:spAutoFit/>
          </a:bodyPr>
          <a:lstStyle/>
          <a:p>
            <a:pPr marL="0" indent="0" algn="l">
              <a:lnSpc>
                <a:spcPts val="1400"/>
              </a:lnSpc>
              <a:buNone/>
            </a:pPr>
            <a:r>
              <a:rPr lang="en-US" sz="1800" b="1" dirty="0">
                <a:solidFill>
                  <a:schemeClr val="bg1"/>
                </a:solidFill>
                <a:latin typeface="Inter Bold" pitchFamily="34" charset="0"/>
                <a:ea typeface="Inter Bold" pitchFamily="34" charset="-122"/>
                <a:cs typeface="Inter Bold" pitchFamily="34" charset="-120"/>
              </a:rPr>
              <a:t>Desktop Application</a:t>
            </a:r>
            <a:endParaRPr lang="en-US" sz="18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97FEC62E-FE7F-B154-D397-564B95C22C15}"/>
              </a:ext>
            </a:extLst>
          </p:cNvPr>
          <p:cNvPicPr>
            <a:picLocks noChangeAspect="1"/>
          </p:cNvPicPr>
          <p:nvPr/>
        </p:nvPicPr>
        <p:blipFill>
          <a:blip r:embed="rId3"/>
          <a:stretch>
            <a:fillRect/>
          </a:stretch>
        </p:blipFill>
        <p:spPr>
          <a:xfrm>
            <a:off x="-525517" y="-1112905"/>
            <a:ext cx="15944193" cy="9342505"/>
          </a:xfrm>
          <a:prstGeom prst="rect">
            <a:avLst/>
          </a:prstGeom>
        </p:spPr>
      </p:pic>
      <p:sp>
        <p:nvSpPr>
          <p:cNvPr id="2" name="Text 0"/>
          <p:cNvSpPr/>
          <p:nvPr/>
        </p:nvSpPr>
        <p:spPr>
          <a:xfrm>
            <a:off x="793790" y="1874044"/>
            <a:ext cx="8693110" cy="566976"/>
          </a:xfrm>
          <a:prstGeom prst="rect">
            <a:avLst/>
          </a:prstGeom>
          <a:noFill/>
          <a:ln/>
        </p:spPr>
        <p:txBody>
          <a:bodyPr wrap="none" lIns="0" tIns="0" rIns="0" bIns="0" rtlCol="0" anchor="t"/>
          <a:lstStyle/>
          <a:p>
            <a:pPr marL="0" indent="0" algn="l">
              <a:lnSpc>
                <a:spcPts val="4450"/>
              </a:lnSpc>
              <a:buNone/>
            </a:pPr>
            <a:r>
              <a:rPr lang="en-US" sz="3550" b="1" dirty="0">
                <a:solidFill>
                  <a:schemeClr val="bg1"/>
                </a:solidFill>
                <a:latin typeface="Inter Bold" pitchFamily="34" charset="0"/>
                <a:ea typeface="Inter Bold" pitchFamily="34" charset="-122"/>
                <a:cs typeface="Inter Bold" pitchFamily="34" charset="-120"/>
              </a:rPr>
              <a:t>Core Features: Track, Manage, Analyze</a:t>
            </a:r>
            <a:endParaRPr lang="en-US" sz="3550" dirty="0">
              <a:solidFill>
                <a:schemeClr val="bg1"/>
              </a:solidFill>
            </a:endParaRPr>
          </a:p>
        </p:txBody>
      </p:sp>
      <p:sp>
        <p:nvSpPr>
          <p:cNvPr id="3" name="Shape 1"/>
          <p:cNvSpPr/>
          <p:nvPr/>
        </p:nvSpPr>
        <p:spPr>
          <a:xfrm>
            <a:off x="816412" y="3195962"/>
            <a:ext cx="4196358" cy="3120628"/>
          </a:xfrm>
          <a:prstGeom prst="roundRect">
            <a:avLst>
              <a:gd name="adj" fmla="val 4688"/>
            </a:avLst>
          </a:prstGeom>
          <a:solidFill>
            <a:srgbClr val="FFFFFF"/>
          </a:solidFill>
          <a:ln/>
        </p:spPr>
      </p:sp>
      <p:sp>
        <p:nvSpPr>
          <p:cNvPr id="4" name="Shape 2"/>
          <p:cNvSpPr/>
          <p:nvPr/>
        </p:nvSpPr>
        <p:spPr>
          <a:xfrm>
            <a:off x="816412" y="3179880"/>
            <a:ext cx="4196358" cy="121920"/>
          </a:xfrm>
          <a:prstGeom prst="roundRect">
            <a:avLst>
              <a:gd name="adj" fmla="val 78139"/>
            </a:avLst>
          </a:prstGeom>
          <a:solidFill>
            <a:srgbClr val="4950BC"/>
          </a:solidFill>
          <a:ln/>
        </p:spPr>
        <p:txBody>
          <a:bodyPr/>
          <a:lstStyle/>
          <a:p>
            <a:endParaRPr lang="en-US" dirty="0"/>
          </a:p>
        </p:txBody>
      </p:sp>
      <p:sp>
        <p:nvSpPr>
          <p:cNvPr id="5" name="Shape 3"/>
          <p:cNvSpPr/>
          <p:nvPr/>
        </p:nvSpPr>
        <p:spPr>
          <a:xfrm>
            <a:off x="2551688" y="2925068"/>
            <a:ext cx="680442" cy="680442"/>
          </a:xfrm>
          <a:prstGeom prst="roundRect">
            <a:avLst>
              <a:gd name="adj" fmla="val 134383"/>
            </a:avLst>
          </a:prstGeom>
          <a:solidFill>
            <a:srgbClr val="4950BC"/>
          </a:solidFill>
          <a:ln/>
        </p:spPr>
      </p:sp>
      <p:pic>
        <p:nvPicPr>
          <p:cNvPr id="6"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55761" y="3098721"/>
            <a:ext cx="272177" cy="272177"/>
          </a:xfrm>
          <a:prstGeom prst="rect">
            <a:avLst/>
          </a:prstGeom>
        </p:spPr>
      </p:pic>
      <p:sp>
        <p:nvSpPr>
          <p:cNvPr id="7" name="Text 4"/>
          <p:cNvSpPr/>
          <p:nvPr/>
        </p:nvSpPr>
        <p:spPr>
          <a:xfrm>
            <a:off x="1051084" y="380178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User Authentication</a:t>
            </a:r>
            <a:endParaRPr lang="en-US" sz="2200" dirty="0"/>
          </a:p>
        </p:txBody>
      </p:sp>
      <p:sp>
        <p:nvSpPr>
          <p:cNvPr id="8" name="Text 5"/>
          <p:cNvSpPr/>
          <p:nvPr/>
        </p:nvSpPr>
        <p:spPr>
          <a:xfrm>
            <a:off x="1051084" y="4292203"/>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Secure sign-in using Google, BCrypt password hashing, and Firebase Auth for robust account management.</a:t>
            </a:r>
            <a:endParaRPr lang="en-US" sz="1750" dirty="0"/>
          </a:p>
        </p:txBody>
      </p:sp>
      <p:sp>
        <p:nvSpPr>
          <p:cNvPr id="9" name="Shape 6"/>
          <p:cNvSpPr/>
          <p:nvPr/>
        </p:nvSpPr>
        <p:spPr>
          <a:xfrm>
            <a:off x="5216962" y="3234809"/>
            <a:ext cx="4196358" cy="3120628"/>
          </a:xfrm>
          <a:prstGeom prst="roundRect">
            <a:avLst>
              <a:gd name="adj" fmla="val 4688"/>
            </a:avLst>
          </a:prstGeom>
          <a:solidFill>
            <a:srgbClr val="FFFFFF"/>
          </a:solidFill>
          <a:ln/>
        </p:spPr>
      </p:sp>
      <p:sp>
        <p:nvSpPr>
          <p:cNvPr id="10" name="Shape 7"/>
          <p:cNvSpPr/>
          <p:nvPr/>
        </p:nvSpPr>
        <p:spPr>
          <a:xfrm>
            <a:off x="5216962" y="3204329"/>
            <a:ext cx="4196358" cy="121920"/>
          </a:xfrm>
          <a:prstGeom prst="roundRect">
            <a:avLst>
              <a:gd name="adj" fmla="val 78139"/>
            </a:avLst>
          </a:prstGeom>
          <a:solidFill>
            <a:srgbClr val="4950BC"/>
          </a:solidFill>
          <a:ln/>
        </p:spPr>
      </p:sp>
      <p:sp>
        <p:nvSpPr>
          <p:cNvPr id="11" name="Shape 8"/>
          <p:cNvSpPr/>
          <p:nvPr/>
        </p:nvSpPr>
        <p:spPr>
          <a:xfrm>
            <a:off x="6974860" y="2894648"/>
            <a:ext cx="680442" cy="680442"/>
          </a:xfrm>
          <a:prstGeom prst="roundRect">
            <a:avLst>
              <a:gd name="adj" fmla="val 134383"/>
            </a:avLst>
          </a:prstGeom>
          <a:solidFill>
            <a:srgbClr val="4950BC"/>
          </a:solidFill>
          <a:ln/>
        </p:spPr>
      </p:sp>
      <p:pic>
        <p:nvPicPr>
          <p:cNvPr id="12"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78933" y="3098721"/>
            <a:ext cx="272177" cy="272177"/>
          </a:xfrm>
          <a:prstGeom prst="rect">
            <a:avLst/>
          </a:prstGeom>
        </p:spPr>
      </p:pic>
      <p:sp>
        <p:nvSpPr>
          <p:cNvPr id="13" name="Text 9"/>
          <p:cNvSpPr/>
          <p:nvPr/>
        </p:nvSpPr>
        <p:spPr>
          <a:xfrm>
            <a:off x="5474256" y="3658310"/>
            <a:ext cx="3681770"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Problem &amp; Target Management</a:t>
            </a:r>
            <a:endParaRPr lang="en-US" sz="2200" dirty="0"/>
          </a:p>
        </p:txBody>
      </p:sp>
      <p:sp>
        <p:nvSpPr>
          <p:cNvPr id="14" name="Text 10"/>
          <p:cNvSpPr/>
          <p:nvPr/>
        </p:nvSpPr>
        <p:spPr>
          <a:xfrm>
            <a:off x="5474136" y="4363879"/>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Add, edit, delete, and track programming problems ("targets") with automatic fetching from the Codeforces API.</a:t>
            </a:r>
            <a:endParaRPr lang="en-US" sz="1750" dirty="0"/>
          </a:p>
        </p:txBody>
      </p:sp>
      <p:sp>
        <p:nvSpPr>
          <p:cNvPr id="15" name="Shape 11"/>
          <p:cNvSpPr/>
          <p:nvPr/>
        </p:nvSpPr>
        <p:spPr>
          <a:xfrm>
            <a:off x="9640133" y="3234809"/>
            <a:ext cx="4196358" cy="3120628"/>
          </a:xfrm>
          <a:prstGeom prst="roundRect">
            <a:avLst>
              <a:gd name="adj" fmla="val 4688"/>
            </a:avLst>
          </a:prstGeom>
          <a:solidFill>
            <a:srgbClr val="FFFFFF"/>
          </a:solidFill>
          <a:ln/>
        </p:spPr>
      </p:sp>
      <p:sp>
        <p:nvSpPr>
          <p:cNvPr id="16" name="Shape 12"/>
          <p:cNvSpPr/>
          <p:nvPr/>
        </p:nvSpPr>
        <p:spPr>
          <a:xfrm>
            <a:off x="9640133" y="3204329"/>
            <a:ext cx="4196358" cy="121920"/>
          </a:xfrm>
          <a:prstGeom prst="roundRect">
            <a:avLst>
              <a:gd name="adj" fmla="val 78139"/>
            </a:avLst>
          </a:prstGeom>
          <a:solidFill>
            <a:srgbClr val="4950BC"/>
          </a:solidFill>
          <a:ln/>
        </p:spPr>
      </p:sp>
      <p:sp>
        <p:nvSpPr>
          <p:cNvPr id="17" name="Shape 13"/>
          <p:cNvSpPr/>
          <p:nvPr/>
        </p:nvSpPr>
        <p:spPr>
          <a:xfrm>
            <a:off x="11398032" y="2894648"/>
            <a:ext cx="680442" cy="680442"/>
          </a:xfrm>
          <a:prstGeom prst="roundRect">
            <a:avLst>
              <a:gd name="adj" fmla="val 134383"/>
            </a:avLst>
          </a:prstGeom>
          <a:solidFill>
            <a:srgbClr val="4950BC"/>
          </a:solidFill>
          <a:ln/>
        </p:spPr>
      </p:sp>
      <p:pic>
        <p:nvPicPr>
          <p:cNvPr id="18"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02105" y="3098721"/>
            <a:ext cx="272177" cy="272177"/>
          </a:xfrm>
          <a:prstGeom prst="rect">
            <a:avLst/>
          </a:prstGeom>
        </p:spPr>
      </p:pic>
      <p:sp>
        <p:nvSpPr>
          <p:cNvPr id="19" name="Text 14"/>
          <p:cNvSpPr/>
          <p:nvPr/>
        </p:nvSpPr>
        <p:spPr>
          <a:xfrm>
            <a:off x="9897427" y="367671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History &amp; Statistics</a:t>
            </a:r>
            <a:endParaRPr lang="en-US" sz="2200" dirty="0"/>
          </a:p>
        </p:txBody>
      </p:sp>
      <p:sp>
        <p:nvSpPr>
          <p:cNvPr id="20" name="Text 15"/>
          <p:cNvSpPr/>
          <p:nvPr/>
        </p:nvSpPr>
        <p:spPr>
          <a:xfrm>
            <a:off x="9896081" y="4069318"/>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Visualize progress with solved problem history, rating charts, performance heatmaps, and detailed statistics.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565AC-08F7-2AE5-5AB7-D191BF0BCFD4}"/>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001FA0B-DCE0-1269-9957-E846C5EB5A2E}"/>
              </a:ext>
            </a:extLst>
          </p:cNvPr>
          <p:cNvPicPr>
            <a:picLocks noChangeAspect="1"/>
          </p:cNvPicPr>
          <p:nvPr/>
        </p:nvPicPr>
        <p:blipFill>
          <a:blip r:embed="rId3"/>
          <a:stretch>
            <a:fillRect/>
          </a:stretch>
        </p:blipFill>
        <p:spPr>
          <a:xfrm>
            <a:off x="-292814" y="-682136"/>
            <a:ext cx="15216026" cy="9170227"/>
          </a:xfrm>
          <a:prstGeom prst="rect">
            <a:avLst/>
          </a:prstGeom>
        </p:spPr>
      </p:pic>
      <p:sp>
        <p:nvSpPr>
          <p:cNvPr id="2" name="Text 0">
            <a:extLst>
              <a:ext uri="{FF2B5EF4-FFF2-40B4-BE49-F238E27FC236}">
                <a16:creationId xmlns:a16="http://schemas.microsoft.com/office/drawing/2014/main" id="{92FC58E1-9D75-108F-7384-3F3F436E3509}"/>
              </a:ext>
            </a:extLst>
          </p:cNvPr>
          <p:cNvSpPr/>
          <p:nvPr/>
        </p:nvSpPr>
        <p:spPr>
          <a:xfrm>
            <a:off x="400764" y="314801"/>
            <a:ext cx="2762131" cy="286107"/>
          </a:xfrm>
          <a:prstGeom prst="rect">
            <a:avLst/>
          </a:prstGeom>
          <a:noFill/>
          <a:ln/>
        </p:spPr>
        <p:txBody>
          <a:bodyPr wrap="none" lIns="0" tIns="0" rIns="0" bIns="0" rtlCol="0" anchor="t"/>
          <a:lstStyle/>
          <a:p>
            <a:pPr marL="0" indent="0" algn="l">
              <a:lnSpc>
                <a:spcPts val="2250"/>
              </a:lnSpc>
              <a:buNone/>
            </a:pPr>
            <a:r>
              <a:rPr lang="en-US" sz="1800" b="1" dirty="0">
                <a:solidFill>
                  <a:srgbClr val="000000"/>
                </a:solidFill>
                <a:latin typeface="Inter Bold" pitchFamily="34" charset="0"/>
                <a:ea typeface="Inter Bold" pitchFamily="34" charset="-122"/>
                <a:cs typeface="Inter Bold" pitchFamily="34" charset="-120"/>
              </a:rPr>
              <a:t>Data Flow &amp; Architecture</a:t>
            </a:r>
            <a:endParaRPr lang="en-US" sz="1800" dirty="0"/>
          </a:p>
        </p:txBody>
      </p:sp>
      <p:pic>
        <p:nvPicPr>
          <p:cNvPr id="3" name="Image 0" descr="preencoded.png">
            <a:extLst>
              <a:ext uri="{FF2B5EF4-FFF2-40B4-BE49-F238E27FC236}">
                <a16:creationId xmlns:a16="http://schemas.microsoft.com/office/drawing/2014/main" id="{C24B8AA4-35A0-8A75-99B4-1F39E12153D4}"/>
              </a:ext>
            </a:extLst>
          </p:cNvPr>
          <p:cNvPicPr>
            <a:picLocks noChangeAspect="1"/>
          </p:cNvPicPr>
          <p:nvPr/>
        </p:nvPicPr>
        <p:blipFill>
          <a:blip r:embed="rId4"/>
          <a:stretch>
            <a:fillRect/>
          </a:stretch>
        </p:blipFill>
        <p:spPr>
          <a:xfrm>
            <a:off x="2426413" y="228103"/>
            <a:ext cx="9752648" cy="7524512"/>
          </a:xfrm>
          <a:prstGeom prst="rect">
            <a:avLst/>
          </a:prstGeom>
        </p:spPr>
      </p:pic>
      <p:sp>
        <p:nvSpPr>
          <p:cNvPr id="4" name="Text 1">
            <a:extLst>
              <a:ext uri="{FF2B5EF4-FFF2-40B4-BE49-F238E27FC236}">
                <a16:creationId xmlns:a16="http://schemas.microsoft.com/office/drawing/2014/main" id="{07C2C767-1890-EB8B-3A52-54C732FE92B1}"/>
              </a:ext>
            </a:extLst>
          </p:cNvPr>
          <p:cNvSpPr/>
          <p:nvPr/>
        </p:nvSpPr>
        <p:spPr>
          <a:xfrm>
            <a:off x="6424616" y="3738415"/>
            <a:ext cx="1700925" cy="1555724"/>
          </a:xfrm>
          <a:prstGeom prst="rect">
            <a:avLst/>
          </a:prstGeom>
          <a:noFill/>
          <a:ln/>
        </p:spPr>
        <p:txBody>
          <a:bodyPr wrap="square" lIns="0" tIns="0" rIns="0" bIns="0" rtlCol="0" anchor="t"/>
          <a:lstStyle/>
          <a:p>
            <a:pPr marL="0" indent="0" algn="ctr">
              <a:lnSpc>
                <a:spcPts val="1650"/>
              </a:lnSpc>
              <a:buNone/>
            </a:pPr>
            <a:r>
              <a:rPr lang="en-US" sz="2500" dirty="0">
                <a:solidFill>
                  <a:schemeClr val="bg1"/>
                </a:solidFill>
              </a:rPr>
              <a:t>Core </a:t>
            </a:r>
          </a:p>
          <a:p>
            <a:pPr marL="0" indent="0" algn="ctr">
              <a:lnSpc>
                <a:spcPts val="1650"/>
              </a:lnSpc>
              <a:buNone/>
            </a:pPr>
            <a:r>
              <a:rPr lang="en-US" sz="2500" dirty="0">
                <a:solidFill>
                  <a:schemeClr val="bg1"/>
                </a:solidFill>
              </a:rPr>
              <a:t>Features</a:t>
            </a:r>
          </a:p>
        </p:txBody>
      </p:sp>
      <p:sp>
        <p:nvSpPr>
          <p:cNvPr id="5" name="Text 2">
            <a:extLst>
              <a:ext uri="{FF2B5EF4-FFF2-40B4-BE49-F238E27FC236}">
                <a16:creationId xmlns:a16="http://schemas.microsoft.com/office/drawing/2014/main" id="{467D551C-59B8-1C4C-82EF-9200EC9F0A86}"/>
              </a:ext>
            </a:extLst>
          </p:cNvPr>
          <p:cNvSpPr/>
          <p:nvPr/>
        </p:nvSpPr>
        <p:spPr>
          <a:xfrm>
            <a:off x="8043430" y="6065522"/>
            <a:ext cx="2530429" cy="388931"/>
          </a:xfrm>
          <a:prstGeom prst="rect">
            <a:avLst/>
          </a:prstGeom>
          <a:noFill/>
          <a:ln/>
        </p:spPr>
        <p:txBody>
          <a:bodyPr wrap="none" lIns="0" tIns="0" rIns="0" bIns="0" rtlCol="0" anchor="t"/>
          <a:lstStyle/>
          <a:p>
            <a:pPr marL="0" indent="0" algn="ctr">
              <a:lnSpc>
                <a:spcPts val="1650"/>
              </a:lnSpc>
              <a:buNone/>
            </a:pPr>
            <a:r>
              <a:rPr lang="en-US" sz="2000" b="1" dirty="0"/>
              <a:t>Online </a:t>
            </a:r>
          </a:p>
          <a:p>
            <a:pPr marL="0" indent="0" algn="ctr">
              <a:lnSpc>
                <a:spcPts val="1650"/>
              </a:lnSpc>
              <a:buNone/>
            </a:pPr>
            <a:r>
              <a:rPr lang="en-US" sz="2000" b="1" dirty="0"/>
              <a:t>database System</a:t>
            </a:r>
          </a:p>
        </p:txBody>
      </p:sp>
      <p:sp>
        <p:nvSpPr>
          <p:cNvPr id="6" name="Text 3">
            <a:extLst>
              <a:ext uri="{FF2B5EF4-FFF2-40B4-BE49-F238E27FC236}">
                <a16:creationId xmlns:a16="http://schemas.microsoft.com/office/drawing/2014/main" id="{FC78033E-E8CE-316C-7BBD-38C158578D55}"/>
              </a:ext>
            </a:extLst>
          </p:cNvPr>
          <p:cNvSpPr/>
          <p:nvPr/>
        </p:nvSpPr>
        <p:spPr>
          <a:xfrm>
            <a:off x="8043429" y="6783457"/>
            <a:ext cx="2530429" cy="622289"/>
          </a:xfrm>
          <a:prstGeom prst="rect">
            <a:avLst/>
          </a:prstGeom>
          <a:noFill/>
          <a:ln/>
        </p:spPr>
        <p:txBody>
          <a:bodyPr wrap="square" lIns="0" tIns="0" rIns="0" bIns="0" rtlCol="0" anchor="t"/>
          <a:lstStyle/>
          <a:p>
            <a:pPr marL="0" indent="0" algn="ctr">
              <a:lnSpc>
                <a:spcPts val="1350"/>
              </a:lnSpc>
              <a:buNone/>
            </a:pPr>
            <a:r>
              <a:rPr lang="en-US" sz="1300" dirty="0"/>
              <a:t>User can access his </a:t>
            </a:r>
            <a:r>
              <a:rPr lang="en-US" sz="1300" dirty="0" err="1"/>
              <a:t>IcpX</a:t>
            </a:r>
            <a:r>
              <a:rPr lang="en-US" sz="1300" dirty="0"/>
              <a:t> id through any device</a:t>
            </a:r>
          </a:p>
        </p:txBody>
      </p:sp>
      <p:sp>
        <p:nvSpPr>
          <p:cNvPr id="7" name="Text 4">
            <a:extLst>
              <a:ext uri="{FF2B5EF4-FFF2-40B4-BE49-F238E27FC236}">
                <a16:creationId xmlns:a16="http://schemas.microsoft.com/office/drawing/2014/main" id="{E1C76042-D347-8D52-DE36-2A1A997ADAC9}"/>
              </a:ext>
            </a:extLst>
          </p:cNvPr>
          <p:cNvSpPr/>
          <p:nvPr/>
        </p:nvSpPr>
        <p:spPr>
          <a:xfrm>
            <a:off x="2776731" y="3645075"/>
            <a:ext cx="2585742" cy="388931"/>
          </a:xfrm>
          <a:prstGeom prst="rect">
            <a:avLst/>
          </a:prstGeom>
          <a:noFill/>
          <a:ln/>
        </p:spPr>
        <p:txBody>
          <a:bodyPr wrap="none" lIns="0" tIns="0" rIns="0" bIns="0" rtlCol="0" anchor="t"/>
          <a:lstStyle/>
          <a:p>
            <a:pPr marL="0" indent="0" algn="ctr">
              <a:lnSpc>
                <a:spcPts val="1650"/>
              </a:lnSpc>
              <a:buNone/>
            </a:pPr>
            <a:r>
              <a:rPr lang="en-US" sz="2000" b="1" dirty="0"/>
              <a:t>Built in</a:t>
            </a:r>
          </a:p>
          <a:p>
            <a:pPr marL="0" indent="0" algn="ctr">
              <a:lnSpc>
                <a:spcPts val="1650"/>
              </a:lnSpc>
              <a:buNone/>
            </a:pPr>
            <a:r>
              <a:rPr lang="en-US" sz="2000" b="1" dirty="0"/>
              <a:t> Ratting Calculation System</a:t>
            </a:r>
          </a:p>
        </p:txBody>
      </p:sp>
      <p:sp>
        <p:nvSpPr>
          <p:cNvPr id="8" name="Text 5">
            <a:extLst>
              <a:ext uri="{FF2B5EF4-FFF2-40B4-BE49-F238E27FC236}">
                <a16:creationId xmlns:a16="http://schemas.microsoft.com/office/drawing/2014/main" id="{64240A4C-2E49-53E3-A9A4-AF7BC0EE825D}"/>
              </a:ext>
            </a:extLst>
          </p:cNvPr>
          <p:cNvSpPr/>
          <p:nvPr/>
        </p:nvSpPr>
        <p:spPr>
          <a:xfrm>
            <a:off x="2842995" y="4503748"/>
            <a:ext cx="2585742" cy="622289"/>
          </a:xfrm>
          <a:prstGeom prst="rect">
            <a:avLst/>
          </a:prstGeom>
          <a:noFill/>
          <a:ln/>
        </p:spPr>
        <p:txBody>
          <a:bodyPr wrap="square" lIns="0" tIns="0" rIns="0" bIns="0" rtlCol="0" anchor="t"/>
          <a:lstStyle/>
          <a:p>
            <a:pPr marL="0" indent="0" algn="ctr">
              <a:lnSpc>
                <a:spcPts val="1350"/>
              </a:lnSpc>
              <a:buNone/>
            </a:pPr>
            <a:r>
              <a:rPr lang="en-US" sz="1300" dirty="0"/>
              <a:t>Encourage User to get his/her ratting</a:t>
            </a:r>
          </a:p>
        </p:txBody>
      </p:sp>
      <p:sp>
        <p:nvSpPr>
          <p:cNvPr id="9" name="Text 6">
            <a:extLst>
              <a:ext uri="{FF2B5EF4-FFF2-40B4-BE49-F238E27FC236}">
                <a16:creationId xmlns:a16="http://schemas.microsoft.com/office/drawing/2014/main" id="{C5EE8077-BD7B-E094-7FCB-B6B5B1654626}"/>
              </a:ext>
            </a:extLst>
          </p:cNvPr>
          <p:cNvSpPr/>
          <p:nvPr/>
        </p:nvSpPr>
        <p:spPr>
          <a:xfrm>
            <a:off x="3907801" y="6282818"/>
            <a:ext cx="2530428" cy="777862"/>
          </a:xfrm>
          <a:prstGeom prst="rect">
            <a:avLst/>
          </a:prstGeom>
          <a:noFill/>
          <a:ln/>
        </p:spPr>
        <p:txBody>
          <a:bodyPr wrap="square" lIns="0" tIns="0" rIns="0" bIns="0" rtlCol="0" anchor="t"/>
          <a:lstStyle/>
          <a:p>
            <a:pPr marL="0" indent="0" algn="ctr">
              <a:lnSpc>
                <a:spcPts val="1650"/>
              </a:lnSpc>
              <a:buNone/>
            </a:pPr>
            <a:r>
              <a:rPr lang="en-US" sz="2000" b="1" dirty="0"/>
              <a:t>Contest Schedule </a:t>
            </a:r>
          </a:p>
          <a:p>
            <a:pPr marL="0" indent="0" algn="ctr">
              <a:lnSpc>
                <a:spcPts val="1650"/>
              </a:lnSpc>
              <a:buNone/>
            </a:pPr>
            <a:r>
              <a:rPr lang="en-US" sz="2000" b="1" dirty="0"/>
              <a:t>Viewing System</a:t>
            </a:r>
          </a:p>
        </p:txBody>
      </p:sp>
      <p:sp>
        <p:nvSpPr>
          <p:cNvPr id="10" name="Text 7">
            <a:extLst>
              <a:ext uri="{FF2B5EF4-FFF2-40B4-BE49-F238E27FC236}">
                <a16:creationId xmlns:a16="http://schemas.microsoft.com/office/drawing/2014/main" id="{F2B6D01B-B261-3447-B9C5-526A88653820}"/>
              </a:ext>
            </a:extLst>
          </p:cNvPr>
          <p:cNvSpPr/>
          <p:nvPr/>
        </p:nvSpPr>
        <p:spPr>
          <a:xfrm>
            <a:off x="3894188" y="6898440"/>
            <a:ext cx="2530428" cy="311145"/>
          </a:xfrm>
          <a:prstGeom prst="rect">
            <a:avLst/>
          </a:prstGeom>
          <a:noFill/>
          <a:ln/>
        </p:spPr>
        <p:txBody>
          <a:bodyPr wrap="none" lIns="0" tIns="0" rIns="0" bIns="0" rtlCol="0" anchor="t"/>
          <a:lstStyle/>
          <a:p>
            <a:pPr marL="0" indent="0" algn="ctr">
              <a:lnSpc>
                <a:spcPts val="1350"/>
              </a:lnSpc>
              <a:buNone/>
            </a:pPr>
            <a:r>
              <a:rPr lang="en-US" sz="1050" dirty="0"/>
              <a:t>Track upcoming and past contest </a:t>
            </a:r>
          </a:p>
        </p:txBody>
      </p:sp>
      <p:sp>
        <p:nvSpPr>
          <p:cNvPr id="11" name="Text 8">
            <a:extLst>
              <a:ext uri="{FF2B5EF4-FFF2-40B4-BE49-F238E27FC236}">
                <a16:creationId xmlns:a16="http://schemas.microsoft.com/office/drawing/2014/main" id="{FD122342-5DD2-238E-0B37-288D9ADA19F1}"/>
              </a:ext>
            </a:extLst>
          </p:cNvPr>
          <p:cNvSpPr/>
          <p:nvPr/>
        </p:nvSpPr>
        <p:spPr>
          <a:xfrm>
            <a:off x="9121420" y="3564984"/>
            <a:ext cx="2585743" cy="388931"/>
          </a:xfrm>
          <a:prstGeom prst="rect">
            <a:avLst/>
          </a:prstGeom>
          <a:noFill/>
          <a:ln/>
        </p:spPr>
        <p:txBody>
          <a:bodyPr wrap="none" lIns="0" tIns="0" rIns="0" bIns="0" rtlCol="0" anchor="t"/>
          <a:lstStyle/>
          <a:p>
            <a:pPr marL="0" indent="0" algn="ctr">
              <a:lnSpc>
                <a:spcPts val="1650"/>
              </a:lnSpc>
              <a:buNone/>
            </a:pPr>
            <a:r>
              <a:rPr lang="en-US" sz="2000" b="1" dirty="0"/>
              <a:t>Offline </a:t>
            </a:r>
          </a:p>
          <a:p>
            <a:pPr marL="0" indent="0" algn="ctr">
              <a:lnSpc>
                <a:spcPts val="1650"/>
              </a:lnSpc>
              <a:buNone/>
            </a:pPr>
            <a:r>
              <a:rPr lang="en-US" sz="2000" b="1" dirty="0"/>
              <a:t>Problem Viewing System</a:t>
            </a:r>
          </a:p>
        </p:txBody>
      </p:sp>
      <p:sp>
        <p:nvSpPr>
          <p:cNvPr id="12" name="Text 9">
            <a:extLst>
              <a:ext uri="{FF2B5EF4-FFF2-40B4-BE49-F238E27FC236}">
                <a16:creationId xmlns:a16="http://schemas.microsoft.com/office/drawing/2014/main" id="{D284E8B2-09CD-F8DC-9280-46679261363B}"/>
              </a:ext>
            </a:extLst>
          </p:cNvPr>
          <p:cNvSpPr/>
          <p:nvPr/>
        </p:nvSpPr>
        <p:spPr>
          <a:xfrm>
            <a:off x="9176520" y="4489919"/>
            <a:ext cx="2585743" cy="622289"/>
          </a:xfrm>
          <a:prstGeom prst="rect">
            <a:avLst/>
          </a:prstGeom>
          <a:noFill/>
          <a:ln/>
        </p:spPr>
        <p:txBody>
          <a:bodyPr wrap="square" lIns="0" tIns="0" rIns="0" bIns="0" rtlCol="0" anchor="t"/>
          <a:lstStyle/>
          <a:p>
            <a:pPr marL="0" indent="0" algn="ctr">
              <a:lnSpc>
                <a:spcPts val="1350"/>
              </a:lnSpc>
              <a:buNone/>
            </a:pPr>
            <a:r>
              <a:rPr lang="en-US" sz="1300" dirty="0">
                <a:solidFill>
                  <a:srgbClr val="272525"/>
                </a:solidFill>
                <a:latin typeface="Inter" pitchFamily="34" charset="0"/>
                <a:ea typeface="Inter" pitchFamily="34" charset="-122"/>
                <a:cs typeface="Inter" pitchFamily="34" charset="-120"/>
              </a:rPr>
              <a:t>User can see statement when if he/she is offline </a:t>
            </a:r>
            <a:endParaRPr lang="en-US" sz="1300" dirty="0"/>
          </a:p>
        </p:txBody>
      </p:sp>
      <p:sp>
        <p:nvSpPr>
          <p:cNvPr id="13" name="Text 10">
            <a:extLst>
              <a:ext uri="{FF2B5EF4-FFF2-40B4-BE49-F238E27FC236}">
                <a16:creationId xmlns:a16="http://schemas.microsoft.com/office/drawing/2014/main" id="{FA06B51A-FBB0-3ACA-A0EB-7FDC99F0B3A7}"/>
              </a:ext>
            </a:extLst>
          </p:cNvPr>
          <p:cNvSpPr/>
          <p:nvPr/>
        </p:nvSpPr>
        <p:spPr>
          <a:xfrm>
            <a:off x="5954442" y="1102977"/>
            <a:ext cx="2599571" cy="388931"/>
          </a:xfrm>
          <a:prstGeom prst="rect">
            <a:avLst/>
          </a:prstGeom>
          <a:noFill/>
          <a:ln/>
        </p:spPr>
        <p:txBody>
          <a:bodyPr wrap="none" lIns="0" tIns="0" rIns="0" bIns="0" rtlCol="0" anchor="t"/>
          <a:lstStyle/>
          <a:p>
            <a:pPr marL="0" indent="0" algn="ctr">
              <a:lnSpc>
                <a:spcPts val="1650"/>
              </a:lnSpc>
              <a:buNone/>
            </a:pPr>
            <a:r>
              <a:rPr lang="en-US" sz="2000" b="1" dirty="0"/>
              <a:t>Built in ‘</a:t>
            </a:r>
          </a:p>
          <a:p>
            <a:pPr marL="0" indent="0" algn="ctr">
              <a:lnSpc>
                <a:spcPts val="1650"/>
              </a:lnSpc>
              <a:buNone/>
            </a:pPr>
            <a:r>
              <a:rPr lang="en-US" sz="2000" b="1" dirty="0"/>
              <a:t>WebView system </a:t>
            </a:r>
          </a:p>
        </p:txBody>
      </p:sp>
      <p:sp>
        <p:nvSpPr>
          <p:cNvPr id="15" name="Text 12">
            <a:extLst>
              <a:ext uri="{FF2B5EF4-FFF2-40B4-BE49-F238E27FC236}">
                <a16:creationId xmlns:a16="http://schemas.microsoft.com/office/drawing/2014/main" id="{1BCEF5D7-7F59-6CED-60C2-99E7D30845F6}"/>
              </a:ext>
            </a:extLst>
          </p:cNvPr>
          <p:cNvSpPr/>
          <p:nvPr/>
        </p:nvSpPr>
        <p:spPr>
          <a:xfrm>
            <a:off x="400764" y="8483084"/>
            <a:ext cx="13828871" cy="183237"/>
          </a:xfrm>
          <a:prstGeom prst="rect">
            <a:avLst/>
          </a:prstGeom>
          <a:noFill/>
          <a:ln/>
        </p:spPr>
        <p:txBody>
          <a:bodyPr wrap="non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icpX utilizes an MVC pattern on the desktop, with data access facilitated by DAOs and API integrations handled by dedicated services. This architecture ensures efficient data management and seamless cloud synchronization.</a:t>
            </a:r>
            <a:endParaRPr lang="en-US" sz="900" dirty="0"/>
          </a:p>
        </p:txBody>
      </p:sp>
      <p:sp>
        <p:nvSpPr>
          <p:cNvPr id="18" name="Text 9">
            <a:extLst>
              <a:ext uri="{FF2B5EF4-FFF2-40B4-BE49-F238E27FC236}">
                <a16:creationId xmlns:a16="http://schemas.microsoft.com/office/drawing/2014/main" id="{1A6FA62B-4D6B-2D20-3C3D-0EDD7DFB4D50}"/>
              </a:ext>
            </a:extLst>
          </p:cNvPr>
          <p:cNvSpPr/>
          <p:nvPr/>
        </p:nvSpPr>
        <p:spPr>
          <a:xfrm>
            <a:off x="5954442" y="1796386"/>
            <a:ext cx="2585743" cy="622289"/>
          </a:xfrm>
          <a:prstGeom prst="rect">
            <a:avLst/>
          </a:prstGeom>
          <a:noFill/>
          <a:ln/>
        </p:spPr>
        <p:txBody>
          <a:bodyPr wrap="square" lIns="0" tIns="0" rIns="0" bIns="0" rtlCol="0" anchor="t"/>
          <a:lstStyle/>
          <a:p>
            <a:pPr marL="0" indent="0" algn="ctr">
              <a:lnSpc>
                <a:spcPts val="1350"/>
              </a:lnSpc>
              <a:buNone/>
            </a:pPr>
            <a:r>
              <a:rPr lang="en-US" sz="1300" dirty="0"/>
              <a:t>User can read problem statement </a:t>
            </a:r>
          </a:p>
          <a:p>
            <a:pPr marL="0" indent="0" algn="ctr">
              <a:lnSpc>
                <a:spcPts val="1350"/>
              </a:lnSpc>
              <a:buNone/>
            </a:pPr>
            <a:r>
              <a:rPr lang="en-US" sz="1300" dirty="0"/>
              <a:t>through this app</a:t>
            </a:r>
          </a:p>
        </p:txBody>
      </p:sp>
    </p:spTree>
    <p:extLst>
      <p:ext uri="{BB962C8B-B14F-4D97-AF65-F5344CB8AC3E}">
        <p14:creationId xmlns:p14="http://schemas.microsoft.com/office/powerpoint/2010/main" val="3657836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04CB3-6759-7A91-B17D-043F5F914061}"/>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0D735E32-B8F4-E3E3-BDD6-D020FC66CE23}"/>
              </a:ext>
            </a:extLst>
          </p:cNvPr>
          <p:cNvPicPr>
            <a:picLocks noChangeAspect="1"/>
          </p:cNvPicPr>
          <p:nvPr/>
        </p:nvPicPr>
        <p:blipFill>
          <a:blip r:embed="rId3"/>
          <a:stretch>
            <a:fillRect/>
          </a:stretch>
        </p:blipFill>
        <p:spPr>
          <a:xfrm>
            <a:off x="-759638" y="-933780"/>
            <a:ext cx="15944193" cy="9342505"/>
          </a:xfrm>
          <a:prstGeom prst="rect">
            <a:avLst/>
          </a:prstGeom>
        </p:spPr>
      </p:pic>
      <p:sp>
        <p:nvSpPr>
          <p:cNvPr id="4" name="Shape 2">
            <a:extLst>
              <a:ext uri="{FF2B5EF4-FFF2-40B4-BE49-F238E27FC236}">
                <a16:creationId xmlns:a16="http://schemas.microsoft.com/office/drawing/2014/main" id="{9746206F-551E-DC98-5647-6A3900DE3A5C}"/>
              </a:ext>
            </a:extLst>
          </p:cNvPr>
          <p:cNvSpPr/>
          <p:nvPr/>
        </p:nvSpPr>
        <p:spPr>
          <a:xfrm>
            <a:off x="4247980" y="1052380"/>
            <a:ext cx="4196358" cy="121920"/>
          </a:xfrm>
          <a:prstGeom prst="roundRect">
            <a:avLst>
              <a:gd name="adj" fmla="val 78139"/>
            </a:avLst>
          </a:prstGeom>
          <a:solidFill>
            <a:srgbClr val="4950BC"/>
          </a:solidFill>
          <a:ln/>
        </p:spPr>
        <p:txBody>
          <a:bodyPr/>
          <a:lstStyle/>
          <a:p>
            <a:endParaRPr lang="en-US" dirty="0"/>
          </a:p>
        </p:txBody>
      </p:sp>
      <p:sp>
        <p:nvSpPr>
          <p:cNvPr id="5" name="Shape 3">
            <a:extLst>
              <a:ext uri="{FF2B5EF4-FFF2-40B4-BE49-F238E27FC236}">
                <a16:creationId xmlns:a16="http://schemas.microsoft.com/office/drawing/2014/main" id="{AC7B1E3C-5A83-D5B1-ECDA-480FB404586A}"/>
              </a:ext>
            </a:extLst>
          </p:cNvPr>
          <p:cNvSpPr/>
          <p:nvPr/>
        </p:nvSpPr>
        <p:spPr>
          <a:xfrm>
            <a:off x="6005938" y="834079"/>
            <a:ext cx="680442" cy="680442"/>
          </a:xfrm>
          <a:prstGeom prst="roundRect">
            <a:avLst>
              <a:gd name="adj" fmla="val 134383"/>
            </a:avLst>
          </a:prstGeom>
          <a:solidFill>
            <a:srgbClr val="4950BC"/>
          </a:solidFill>
          <a:ln/>
        </p:spPr>
      </p:sp>
      <p:pic>
        <p:nvPicPr>
          <p:cNvPr id="6" name="Image 0" descr="preencoded.png">
            <a:extLst>
              <a:ext uri="{FF2B5EF4-FFF2-40B4-BE49-F238E27FC236}">
                <a16:creationId xmlns:a16="http://schemas.microsoft.com/office/drawing/2014/main" id="{D63DC683-4371-5A0F-96EA-BF83EE457F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0070" y="977251"/>
            <a:ext cx="272177" cy="272177"/>
          </a:xfrm>
          <a:prstGeom prst="rect">
            <a:avLst/>
          </a:prstGeom>
        </p:spPr>
      </p:pic>
      <p:sp>
        <p:nvSpPr>
          <p:cNvPr id="7" name="Text 4">
            <a:extLst>
              <a:ext uri="{FF2B5EF4-FFF2-40B4-BE49-F238E27FC236}">
                <a16:creationId xmlns:a16="http://schemas.microsoft.com/office/drawing/2014/main" id="{E13AD25B-0DCC-8D05-5660-D699AEAA61B6}"/>
              </a:ext>
            </a:extLst>
          </p:cNvPr>
          <p:cNvSpPr/>
          <p:nvPr/>
        </p:nvSpPr>
        <p:spPr>
          <a:xfrm>
            <a:off x="2840180" y="272824"/>
            <a:ext cx="8288125" cy="486127"/>
          </a:xfrm>
          <a:prstGeom prst="rect">
            <a:avLst/>
          </a:prstGeom>
          <a:noFill/>
          <a:ln/>
        </p:spPr>
        <p:txBody>
          <a:bodyPr wrap="none" lIns="0" tIns="0" rIns="0" bIns="0" rtlCol="0" anchor="t"/>
          <a:lstStyle/>
          <a:p>
            <a:pPr>
              <a:lnSpc>
                <a:spcPts val="2750"/>
              </a:lnSpc>
            </a:pPr>
            <a:r>
              <a:rPr lang="en-US" sz="3500" b="1" dirty="0">
                <a:solidFill>
                  <a:schemeClr val="bg1"/>
                </a:solidFill>
                <a:latin typeface="Inter Bold" pitchFamily="34" charset="0"/>
                <a:ea typeface="Inter Bold" pitchFamily="34" charset="-122"/>
                <a:cs typeface="Inter Bold" pitchFamily="34" charset="-120"/>
              </a:rPr>
              <a:t>How help to increase Consistency</a:t>
            </a:r>
            <a:endParaRPr lang="en-US" sz="3500" dirty="0">
              <a:solidFill>
                <a:schemeClr val="bg1"/>
              </a:solidFill>
            </a:endParaRPr>
          </a:p>
        </p:txBody>
      </p:sp>
      <p:sp>
        <p:nvSpPr>
          <p:cNvPr id="26" name="Arrow: Right 25">
            <a:extLst>
              <a:ext uri="{FF2B5EF4-FFF2-40B4-BE49-F238E27FC236}">
                <a16:creationId xmlns:a16="http://schemas.microsoft.com/office/drawing/2014/main" id="{5C90CA58-2CB3-BEF8-A0C2-1231256C3752}"/>
              </a:ext>
            </a:extLst>
          </p:cNvPr>
          <p:cNvSpPr/>
          <p:nvPr/>
        </p:nvSpPr>
        <p:spPr>
          <a:xfrm>
            <a:off x="123289" y="1991440"/>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BAC9E48-CBE5-7F65-0257-9332B5D5A71C}"/>
              </a:ext>
            </a:extLst>
          </p:cNvPr>
          <p:cNvSpPr txBox="1"/>
          <p:nvPr/>
        </p:nvSpPr>
        <p:spPr>
          <a:xfrm>
            <a:off x="767162" y="1922074"/>
            <a:ext cx="4520629" cy="553998"/>
          </a:xfrm>
          <a:prstGeom prst="rect">
            <a:avLst/>
          </a:prstGeom>
          <a:noFill/>
        </p:spPr>
        <p:txBody>
          <a:bodyPr wrap="square" rtlCol="0">
            <a:spAutoFit/>
          </a:bodyPr>
          <a:lstStyle/>
          <a:p>
            <a:r>
              <a:rPr lang="en-US" sz="3000" dirty="0">
                <a:solidFill>
                  <a:schemeClr val="bg1"/>
                </a:solidFill>
              </a:rPr>
              <a:t>Add your target for 24h</a:t>
            </a:r>
          </a:p>
        </p:txBody>
      </p:sp>
      <p:sp>
        <p:nvSpPr>
          <p:cNvPr id="29" name="Arrow: Right 28">
            <a:extLst>
              <a:ext uri="{FF2B5EF4-FFF2-40B4-BE49-F238E27FC236}">
                <a16:creationId xmlns:a16="http://schemas.microsoft.com/office/drawing/2014/main" id="{30B258F0-89A8-2955-9657-25F4B989AA10}"/>
              </a:ext>
            </a:extLst>
          </p:cNvPr>
          <p:cNvSpPr/>
          <p:nvPr/>
        </p:nvSpPr>
        <p:spPr>
          <a:xfrm>
            <a:off x="123289" y="2649020"/>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57B46AF-324F-9442-46F9-7AFCD1B96731}"/>
              </a:ext>
            </a:extLst>
          </p:cNvPr>
          <p:cNvSpPr txBox="1"/>
          <p:nvPr/>
        </p:nvSpPr>
        <p:spPr>
          <a:xfrm>
            <a:off x="767162" y="2568474"/>
            <a:ext cx="4520629" cy="553998"/>
          </a:xfrm>
          <a:prstGeom prst="rect">
            <a:avLst/>
          </a:prstGeom>
          <a:noFill/>
        </p:spPr>
        <p:txBody>
          <a:bodyPr wrap="square" rtlCol="0">
            <a:spAutoFit/>
          </a:bodyPr>
          <a:lstStyle/>
          <a:p>
            <a:r>
              <a:rPr lang="en-US" sz="3000" dirty="0">
                <a:solidFill>
                  <a:schemeClr val="bg1"/>
                </a:solidFill>
              </a:rPr>
              <a:t>Solve the target before 24h</a:t>
            </a:r>
          </a:p>
        </p:txBody>
      </p:sp>
      <p:sp>
        <p:nvSpPr>
          <p:cNvPr id="31" name="Arrow: Right 30">
            <a:extLst>
              <a:ext uri="{FF2B5EF4-FFF2-40B4-BE49-F238E27FC236}">
                <a16:creationId xmlns:a16="http://schemas.microsoft.com/office/drawing/2014/main" id="{F6163193-AFDB-5B49-6A5A-9ADEE9ED8F45}"/>
              </a:ext>
            </a:extLst>
          </p:cNvPr>
          <p:cNvSpPr/>
          <p:nvPr/>
        </p:nvSpPr>
        <p:spPr>
          <a:xfrm>
            <a:off x="123289" y="3367373"/>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7ED58462-A3C5-1ED8-95A7-B55DDE07CEB0}"/>
              </a:ext>
            </a:extLst>
          </p:cNvPr>
          <p:cNvSpPr txBox="1"/>
          <p:nvPr/>
        </p:nvSpPr>
        <p:spPr>
          <a:xfrm>
            <a:off x="767162" y="3298007"/>
            <a:ext cx="6322007" cy="1015663"/>
          </a:xfrm>
          <a:prstGeom prst="rect">
            <a:avLst/>
          </a:prstGeom>
          <a:noFill/>
        </p:spPr>
        <p:txBody>
          <a:bodyPr wrap="square" rtlCol="0">
            <a:spAutoFit/>
          </a:bodyPr>
          <a:lstStyle/>
          <a:p>
            <a:r>
              <a:rPr lang="en-US" sz="3000" dirty="0">
                <a:solidFill>
                  <a:schemeClr val="bg1"/>
                </a:solidFill>
              </a:rPr>
              <a:t>Unable to solve lead before time cause you penalty in ratting </a:t>
            </a:r>
          </a:p>
        </p:txBody>
      </p:sp>
      <p:sp>
        <p:nvSpPr>
          <p:cNvPr id="33" name="Arrow: Right 32">
            <a:extLst>
              <a:ext uri="{FF2B5EF4-FFF2-40B4-BE49-F238E27FC236}">
                <a16:creationId xmlns:a16="http://schemas.microsoft.com/office/drawing/2014/main" id="{6AEAD6FD-852F-F4F6-244B-EF8A92D9B2BB}"/>
              </a:ext>
            </a:extLst>
          </p:cNvPr>
          <p:cNvSpPr/>
          <p:nvPr/>
        </p:nvSpPr>
        <p:spPr>
          <a:xfrm>
            <a:off x="123289" y="4387066"/>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9F11ED4-8724-817B-7052-36E555956170}"/>
              </a:ext>
            </a:extLst>
          </p:cNvPr>
          <p:cNvSpPr txBox="1"/>
          <p:nvPr/>
        </p:nvSpPr>
        <p:spPr>
          <a:xfrm>
            <a:off x="767162" y="4322234"/>
            <a:ext cx="6322007" cy="1015663"/>
          </a:xfrm>
          <a:prstGeom prst="rect">
            <a:avLst/>
          </a:prstGeom>
          <a:noFill/>
        </p:spPr>
        <p:txBody>
          <a:bodyPr wrap="square" rtlCol="0">
            <a:spAutoFit/>
          </a:bodyPr>
          <a:lstStyle/>
          <a:p>
            <a:r>
              <a:rPr lang="en-US" sz="3000" dirty="0">
                <a:solidFill>
                  <a:schemeClr val="bg1"/>
                </a:solidFill>
              </a:rPr>
              <a:t>Successfully solve the target give you increase of ratting</a:t>
            </a:r>
          </a:p>
        </p:txBody>
      </p:sp>
      <p:sp>
        <p:nvSpPr>
          <p:cNvPr id="39" name="Arrow: Right 38">
            <a:extLst>
              <a:ext uri="{FF2B5EF4-FFF2-40B4-BE49-F238E27FC236}">
                <a16:creationId xmlns:a16="http://schemas.microsoft.com/office/drawing/2014/main" id="{1186A15F-91FB-BFED-27E1-6CB15AEFCACA}"/>
              </a:ext>
            </a:extLst>
          </p:cNvPr>
          <p:cNvSpPr/>
          <p:nvPr/>
        </p:nvSpPr>
        <p:spPr>
          <a:xfrm>
            <a:off x="8001856" y="1922074"/>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49372D4-BB79-CC1B-A334-5C72F59390AF}"/>
              </a:ext>
            </a:extLst>
          </p:cNvPr>
          <p:cNvSpPr txBox="1"/>
          <p:nvPr/>
        </p:nvSpPr>
        <p:spPr>
          <a:xfrm>
            <a:off x="8676551" y="1851802"/>
            <a:ext cx="5111368" cy="553998"/>
          </a:xfrm>
          <a:prstGeom prst="rect">
            <a:avLst/>
          </a:prstGeom>
          <a:noFill/>
        </p:spPr>
        <p:txBody>
          <a:bodyPr wrap="square" rtlCol="0">
            <a:spAutoFit/>
          </a:bodyPr>
          <a:lstStyle/>
          <a:p>
            <a:r>
              <a:rPr lang="en-US" sz="3000" dirty="0">
                <a:solidFill>
                  <a:schemeClr val="bg1"/>
                </a:solidFill>
              </a:rPr>
              <a:t>Prevent you from distraction</a:t>
            </a:r>
          </a:p>
        </p:txBody>
      </p:sp>
      <p:sp>
        <p:nvSpPr>
          <p:cNvPr id="41" name="Arrow: Right 40">
            <a:extLst>
              <a:ext uri="{FF2B5EF4-FFF2-40B4-BE49-F238E27FC236}">
                <a16:creationId xmlns:a16="http://schemas.microsoft.com/office/drawing/2014/main" id="{72800970-DD2A-7668-42D8-75008A0A8BC2}"/>
              </a:ext>
            </a:extLst>
          </p:cNvPr>
          <p:cNvSpPr/>
          <p:nvPr/>
        </p:nvSpPr>
        <p:spPr>
          <a:xfrm>
            <a:off x="8001856" y="2649020"/>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B9405DC-5894-A15C-03F3-3E8DD9D3D081}"/>
              </a:ext>
            </a:extLst>
          </p:cNvPr>
          <p:cNvSpPr txBox="1"/>
          <p:nvPr/>
        </p:nvSpPr>
        <p:spPr>
          <a:xfrm>
            <a:off x="8646319" y="2598456"/>
            <a:ext cx="5111368" cy="1015663"/>
          </a:xfrm>
          <a:prstGeom prst="rect">
            <a:avLst/>
          </a:prstGeom>
          <a:noFill/>
        </p:spPr>
        <p:txBody>
          <a:bodyPr wrap="square" rtlCol="0">
            <a:spAutoFit/>
          </a:bodyPr>
          <a:lstStyle/>
          <a:p>
            <a:r>
              <a:rPr lang="en-US" sz="3000" dirty="0">
                <a:solidFill>
                  <a:schemeClr val="bg1"/>
                </a:solidFill>
              </a:rPr>
              <a:t>Access to read problem statement offline </a:t>
            </a:r>
          </a:p>
        </p:txBody>
      </p:sp>
      <p:sp>
        <p:nvSpPr>
          <p:cNvPr id="43" name="Arrow: Right 42">
            <a:extLst>
              <a:ext uri="{FF2B5EF4-FFF2-40B4-BE49-F238E27FC236}">
                <a16:creationId xmlns:a16="http://schemas.microsoft.com/office/drawing/2014/main" id="{A39FDE1C-A043-FBAC-C607-AEC851CC3ABE}"/>
              </a:ext>
            </a:extLst>
          </p:cNvPr>
          <p:cNvSpPr/>
          <p:nvPr/>
        </p:nvSpPr>
        <p:spPr>
          <a:xfrm>
            <a:off x="8001856" y="3829038"/>
            <a:ext cx="58799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7BB6102-A305-878A-0F0D-D673AB29756B}"/>
              </a:ext>
            </a:extLst>
          </p:cNvPr>
          <p:cNvSpPr txBox="1"/>
          <p:nvPr/>
        </p:nvSpPr>
        <p:spPr>
          <a:xfrm>
            <a:off x="8646319" y="3737473"/>
            <a:ext cx="5111368" cy="1477328"/>
          </a:xfrm>
          <a:prstGeom prst="rect">
            <a:avLst/>
          </a:prstGeom>
          <a:noFill/>
        </p:spPr>
        <p:txBody>
          <a:bodyPr wrap="square" rtlCol="0">
            <a:spAutoFit/>
          </a:bodyPr>
          <a:lstStyle/>
          <a:p>
            <a:r>
              <a:rPr lang="en-US" sz="3000" dirty="0">
                <a:solidFill>
                  <a:schemeClr val="bg1"/>
                </a:solidFill>
              </a:rPr>
              <a:t>Seamless data synchronization between your Desktop and Android </a:t>
            </a:r>
          </a:p>
        </p:txBody>
      </p:sp>
    </p:spTree>
    <p:extLst>
      <p:ext uri="{BB962C8B-B14F-4D97-AF65-F5344CB8AC3E}">
        <p14:creationId xmlns:p14="http://schemas.microsoft.com/office/powerpoint/2010/main" val="838686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25693AF-A331-C58E-B6D7-436E78E1CA9F}"/>
              </a:ext>
            </a:extLst>
          </p:cNvPr>
          <p:cNvPicPr>
            <a:picLocks noChangeAspect="1"/>
          </p:cNvPicPr>
          <p:nvPr/>
        </p:nvPicPr>
        <p:blipFill>
          <a:blip r:embed="rId3"/>
          <a:stretch>
            <a:fillRect/>
          </a:stretch>
        </p:blipFill>
        <p:spPr>
          <a:xfrm>
            <a:off x="-308225" y="-968028"/>
            <a:ext cx="15390688" cy="9197628"/>
          </a:xfrm>
          <a:prstGeom prst="rect">
            <a:avLst/>
          </a:prstGeom>
        </p:spPr>
      </p:pic>
      <p:sp>
        <p:nvSpPr>
          <p:cNvPr id="2" name="Text 0"/>
          <p:cNvSpPr/>
          <p:nvPr/>
        </p:nvSpPr>
        <p:spPr>
          <a:xfrm>
            <a:off x="793790" y="1140738"/>
            <a:ext cx="9886474" cy="566976"/>
          </a:xfrm>
          <a:prstGeom prst="rect">
            <a:avLst/>
          </a:prstGeom>
          <a:noFill/>
          <a:ln/>
        </p:spPr>
        <p:txBody>
          <a:bodyPr wrap="none" lIns="0" tIns="0" rIns="0" bIns="0" rtlCol="0" anchor="t"/>
          <a:lstStyle/>
          <a:p>
            <a:pPr marL="0" indent="0" algn="l">
              <a:lnSpc>
                <a:spcPts val="4450"/>
              </a:lnSpc>
              <a:buNone/>
            </a:pPr>
            <a:r>
              <a:rPr lang="en-US" sz="3550" b="1" dirty="0">
                <a:solidFill>
                  <a:schemeClr val="bg1"/>
                </a:solidFill>
                <a:latin typeface="Inter Bold" pitchFamily="34" charset="0"/>
                <a:ea typeface="Inter Bold" pitchFamily="34" charset="-122"/>
                <a:cs typeface="Inter Bold" pitchFamily="34" charset="-120"/>
              </a:rPr>
              <a:t>Usage Scenarios: Empowering Programmers</a:t>
            </a:r>
            <a:endParaRPr lang="en-US" sz="3550" dirty="0">
              <a:solidFill>
                <a:schemeClr val="bg1"/>
              </a:solidFill>
            </a:endParaRPr>
          </a:p>
        </p:txBody>
      </p:sp>
      <p:sp>
        <p:nvSpPr>
          <p:cNvPr id="3" name="Shape 1"/>
          <p:cNvSpPr/>
          <p:nvPr/>
        </p:nvSpPr>
        <p:spPr>
          <a:xfrm>
            <a:off x="793790" y="2161342"/>
            <a:ext cx="6407944" cy="680442"/>
          </a:xfrm>
          <a:prstGeom prst="roundRect">
            <a:avLst>
              <a:gd name="adj" fmla="val 480029"/>
            </a:avLst>
          </a:prstGeom>
          <a:solidFill>
            <a:srgbClr val="DADBF1"/>
          </a:solidFill>
          <a:ln w="7620">
            <a:solidFill>
              <a:srgbClr val="C0C1D7"/>
            </a:solidFill>
            <a:prstDash val="solid"/>
          </a:ln>
        </p:spPr>
        <p:txBody>
          <a:bodyPr/>
          <a:lstStyle/>
          <a:p>
            <a:endParaRPr lang="en-US" dirty="0"/>
          </a:p>
        </p:txBody>
      </p:sp>
      <p:pic>
        <p:nvPicPr>
          <p:cNvPr id="4"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7621" y="2331363"/>
            <a:ext cx="340162" cy="340162"/>
          </a:xfrm>
          <a:prstGeom prst="rect">
            <a:avLst/>
          </a:prstGeom>
        </p:spPr>
      </p:pic>
      <p:sp>
        <p:nvSpPr>
          <p:cNvPr id="5" name="Text 2"/>
          <p:cNvSpPr/>
          <p:nvPr/>
        </p:nvSpPr>
        <p:spPr>
          <a:xfrm>
            <a:off x="1020604" y="3068598"/>
            <a:ext cx="3617952" cy="354330"/>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Inter Bold" pitchFamily="34" charset="0"/>
                <a:ea typeface="Inter Bold" pitchFamily="34" charset="-122"/>
                <a:cs typeface="Inter Bold" pitchFamily="34" charset="-120"/>
              </a:rPr>
              <a:t>Add Codeforces Problems</a:t>
            </a:r>
            <a:endParaRPr lang="en-US" sz="2200" dirty="0">
              <a:solidFill>
                <a:schemeClr val="bg1"/>
              </a:solidFill>
            </a:endParaRPr>
          </a:p>
        </p:txBody>
      </p:sp>
      <p:sp>
        <p:nvSpPr>
          <p:cNvPr id="6" name="Text 3"/>
          <p:cNvSpPr/>
          <p:nvPr/>
        </p:nvSpPr>
        <p:spPr>
          <a:xfrm>
            <a:off x="1020604" y="3559016"/>
            <a:ext cx="5954316" cy="725805"/>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itchFamily="34" charset="0"/>
                <a:ea typeface="Inter" pitchFamily="34" charset="-122"/>
                <a:cs typeface="Inter" pitchFamily="34" charset="-120"/>
              </a:rPr>
              <a:t>Quickly import problems from Codeforces to your personal list.</a:t>
            </a:r>
            <a:endParaRPr lang="en-US" sz="1750" dirty="0">
              <a:solidFill>
                <a:schemeClr val="bg1"/>
              </a:solidFill>
            </a:endParaRPr>
          </a:p>
        </p:txBody>
      </p:sp>
      <p:sp>
        <p:nvSpPr>
          <p:cNvPr id="7" name="Shape 4"/>
          <p:cNvSpPr/>
          <p:nvPr/>
        </p:nvSpPr>
        <p:spPr>
          <a:xfrm>
            <a:off x="7428548" y="2161342"/>
            <a:ext cx="6408063" cy="680442"/>
          </a:xfrm>
          <a:prstGeom prst="roundRect">
            <a:avLst>
              <a:gd name="adj" fmla="val 480029"/>
            </a:avLst>
          </a:prstGeom>
          <a:solidFill>
            <a:srgbClr val="DADBF1"/>
          </a:solidFill>
          <a:ln w="7620">
            <a:solidFill>
              <a:srgbClr val="C0C1D7"/>
            </a:solidFill>
            <a:prstDash val="solid"/>
          </a:ln>
        </p:spPr>
      </p:sp>
      <p:pic>
        <p:nvPicPr>
          <p:cNvPr id="8"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62498" y="2331363"/>
            <a:ext cx="340162" cy="340162"/>
          </a:xfrm>
          <a:prstGeom prst="rect">
            <a:avLst/>
          </a:prstGeom>
        </p:spPr>
      </p:pic>
      <p:sp>
        <p:nvSpPr>
          <p:cNvPr id="9" name="Text 5"/>
          <p:cNvSpPr/>
          <p:nvPr/>
        </p:nvSpPr>
        <p:spPr>
          <a:xfrm>
            <a:off x="7655362" y="3068598"/>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Inter Bold" pitchFamily="34" charset="0"/>
                <a:ea typeface="Inter Bold" pitchFamily="34" charset="-122"/>
                <a:cs typeface="Inter Bold" pitchFamily="34" charset="-120"/>
              </a:rPr>
              <a:t>Set Training Targets</a:t>
            </a:r>
            <a:endParaRPr lang="en-US" sz="2200" dirty="0">
              <a:solidFill>
                <a:schemeClr val="bg1"/>
              </a:solidFill>
            </a:endParaRPr>
          </a:p>
        </p:txBody>
      </p:sp>
      <p:sp>
        <p:nvSpPr>
          <p:cNvPr id="10" name="Text 6"/>
          <p:cNvSpPr/>
          <p:nvPr/>
        </p:nvSpPr>
        <p:spPr>
          <a:xfrm>
            <a:off x="7655362" y="3559016"/>
            <a:ext cx="5954435" cy="725805"/>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itchFamily="34" charset="0"/>
                <a:ea typeface="Inter" pitchFamily="34" charset="-122"/>
                <a:cs typeface="Inter" pitchFamily="34" charset="-120"/>
              </a:rPr>
              <a:t>Define and track specific problem-solving goals for focused practice.</a:t>
            </a:r>
            <a:endParaRPr lang="en-US" sz="1750" dirty="0">
              <a:solidFill>
                <a:schemeClr val="bg1"/>
              </a:solidFill>
            </a:endParaRPr>
          </a:p>
        </p:txBody>
      </p:sp>
      <p:sp>
        <p:nvSpPr>
          <p:cNvPr id="11" name="Shape 7"/>
          <p:cNvSpPr/>
          <p:nvPr/>
        </p:nvSpPr>
        <p:spPr>
          <a:xfrm>
            <a:off x="793790" y="4738449"/>
            <a:ext cx="6407944" cy="680442"/>
          </a:xfrm>
          <a:prstGeom prst="roundRect">
            <a:avLst>
              <a:gd name="adj" fmla="val 480029"/>
            </a:avLst>
          </a:prstGeom>
          <a:solidFill>
            <a:srgbClr val="DADBF1"/>
          </a:solidFill>
          <a:ln w="7620">
            <a:solidFill>
              <a:srgbClr val="C0C1D7"/>
            </a:solidFill>
            <a:prstDash val="solid"/>
          </a:ln>
        </p:spPr>
      </p:sp>
      <p:pic>
        <p:nvPicPr>
          <p:cNvPr id="12"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27621" y="4908471"/>
            <a:ext cx="340162" cy="340162"/>
          </a:xfrm>
          <a:prstGeom prst="rect">
            <a:avLst/>
          </a:prstGeom>
        </p:spPr>
      </p:pic>
      <p:sp>
        <p:nvSpPr>
          <p:cNvPr id="13" name="Text 8"/>
          <p:cNvSpPr/>
          <p:nvPr/>
        </p:nvSpPr>
        <p:spPr>
          <a:xfrm>
            <a:off x="1020604" y="5645706"/>
            <a:ext cx="2999422" cy="354330"/>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Inter Bold" pitchFamily="34" charset="0"/>
                <a:ea typeface="Inter Bold" pitchFamily="34" charset="-122"/>
                <a:cs typeface="Inter Bold" pitchFamily="34" charset="-120"/>
              </a:rPr>
              <a:t>Analyze Performance</a:t>
            </a:r>
            <a:endParaRPr lang="en-US" sz="2200" dirty="0">
              <a:solidFill>
                <a:schemeClr val="bg1"/>
              </a:solidFill>
            </a:endParaRPr>
          </a:p>
        </p:txBody>
      </p:sp>
      <p:sp>
        <p:nvSpPr>
          <p:cNvPr id="14" name="Text 9"/>
          <p:cNvSpPr/>
          <p:nvPr/>
        </p:nvSpPr>
        <p:spPr>
          <a:xfrm>
            <a:off x="1020604" y="6136124"/>
            <a:ext cx="5954316" cy="725805"/>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itchFamily="34" charset="0"/>
                <a:ea typeface="Inter" pitchFamily="34" charset="-122"/>
                <a:cs typeface="Inter" pitchFamily="34" charset="-120"/>
              </a:rPr>
              <a:t>Leverage the interactive dashboard with visualizations and statistics to pinpoint strengths and weaknesses.</a:t>
            </a:r>
            <a:endParaRPr lang="en-US" sz="1750" dirty="0">
              <a:solidFill>
                <a:schemeClr val="bg1"/>
              </a:solidFill>
            </a:endParaRPr>
          </a:p>
        </p:txBody>
      </p:sp>
      <p:sp>
        <p:nvSpPr>
          <p:cNvPr id="15" name="Shape 10"/>
          <p:cNvSpPr/>
          <p:nvPr/>
        </p:nvSpPr>
        <p:spPr>
          <a:xfrm>
            <a:off x="7428548" y="4738449"/>
            <a:ext cx="6408063" cy="680442"/>
          </a:xfrm>
          <a:prstGeom prst="roundRect">
            <a:avLst>
              <a:gd name="adj" fmla="val 480029"/>
            </a:avLst>
          </a:prstGeom>
          <a:solidFill>
            <a:srgbClr val="DADBF1"/>
          </a:solidFill>
          <a:ln w="7620">
            <a:solidFill>
              <a:srgbClr val="C0C1D7"/>
            </a:solidFill>
            <a:prstDash val="solid"/>
          </a:ln>
        </p:spPr>
      </p:sp>
      <p:pic>
        <p:nvPicPr>
          <p:cNvPr id="16"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62498" y="4908471"/>
            <a:ext cx="340162" cy="340162"/>
          </a:xfrm>
          <a:prstGeom prst="rect">
            <a:avLst/>
          </a:prstGeom>
        </p:spPr>
      </p:pic>
      <p:sp>
        <p:nvSpPr>
          <p:cNvPr id="17" name="Text 11"/>
          <p:cNvSpPr/>
          <p:nvPr/>
        </p:nvSpPr>
        <p:spPr>
          <a:xfrm>
            <a:off x="7655362" y="5645706"/>
            <a:ext cx="3620214" cy="354330"/>
          </a:xfrm>
          <a:prstGeom prst="rect">
            <a:avLst/>
          </a:prstGeom>
          <a:noFill/>
          <a:ln/>
        </p:spPr>
        <p:txBody>
          <a:bodyPr wrap="none" lIns="0" tIns="0" rIns="0" bIns="0" rtlCol="0" anchor="t"/>
          <a:lstStyle/>
          <a:p>
            <a:pPr marL="0" indent="0" algn="l">
              <a:lnSpc>
                <a:spcPts val="2750"/>
              </a:lnSpc>
              <a:buNone/>
            </a:pPr>
            <a:r>
              <a:rPr lang="en-US" sz="2200" b="1" dirty="0">
                <a:solidFill>
                  <a:schemeClr val="bg1"/>
                </a:solidFill>
                <a:latin typeface="Inter Bold" pitchFamily="34" charset="0"/>
                <a:ea typeface="Inter Bold" pitchFamily="34" charset="-122"/>
                <a:cs typeface="Inter Bold" pitchFamily="34" charset="-120"/>
              </a:rPr>
              <a:t>Sync Data Across Devices</a:t>
            </a:r>
            <a:endParaRPr lang="en-US" sz="2200" dirty="0">
              <a:solidFill>
                <a:schemeClr val="bg1"/>
              </a:solidFill>
            </a:endParaRPr>
          </a:p>
        </p:txBody>
      </p:sp>
      <p:sp>
        <p:nvSpPr>
          <p:cNvPr id="18" name="Text 12"/>
          <p:cNvSpPr/>
          <p:nvPr/>
        </p:nvSpPr>
        <p:spPr>
          <a:xfrm>
            <a:off x="7655362" y="6136124"/>
            <a:ext cx="5954435" cy="725805"/>
          </a:xfrm>
          <a:prstGeom prst="rect">
            <a:avLst/>
          </a:prstGeom>
          <a:noFill/>
          <a:ln/>
        </p:spPr>
        <p:txBody>
          <a:bodyPr wrap="square" lIns="0" tIns="0" rIns="0" bIns="0" rtlCol="0" anchor="t"/>
          <a:lstStyle/>
          <a:p>
            <a:pPr marL="0" indent="0" algn="l">
              <a:lnSpc>
                <a:spcPts val="2850"/>
              </a:lnSpc>
              <a:buNone/>
            </a:pPr>
            <a:r>
              <a:rPr lang="en-US" sz="1750" dirty="0">
                <a:solidFill>
                  <a:schemeClr val="bg1"/>
                </a:solidFill>
                <a:latin typeface="Inter" pitchFamily="34" charset="0"/>
                <a:ea typeface="Inter" pitchFamily="34" charset="-122"/>
                <a:cs typeface="Inter" pitchFamily="34" charset="-120"/>
              </a:rPr>
              <a:t>Maintain a consistent progress record whether you're on your phone or desktop.</a:t>
            </a:r>
            <a:endParaRPr lang="en-US" sz="175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1D98C3C-01DA-C977-58ED-8BA940730E27}"/>
              </a:ext>
            </a:extLst>
          </p:cNvPr>
          <p:cNvPicPr>
            <a:picLocks noChangeAspect="1"/>
          </p:cNvPicPr>
          <p:nvPr/>
        </p:nvPicPr>
        <p:blipFill>
          <a:blip r:embed="rId3"/>
          <a:stretch>
            <a:fillRect/>
          </a:stretch>
        </p:blipFill>
        <p:spPr>
          <a:xfrm>
            <a:off x="-318499" y="-974878"/>
            <a:ext cx="15411236" cy="9204478"/>
          </a:xfrm>
          <a:prstGeom prst="rect">
            <a:avLst/>
          </a:prstGeom>
        </p:spPr>
      </p:pic>
      <p:sp>
        <p:nvSpPr>
          <p:cNvPr id="2" name="Text 0"/>
          <p:cNvSpPr/>
          <p:nvPr/>
        </p:nvSpPr>
        <p:spPr>
          <a:xfrm>
            <a:off x="620911" y="487799"/>
            <a:ext cx="5709523" cy="443508"/>
          </a:xfrm>
          <a:prstGeom prst="rect">
            <a:avLst/>
          </a:prstGeom>
          <a:noFill/>
          <a:ln/>
        </p:spPr>
        <p:txBody>
          <a:bodyPr wrap="none" lIns="0" tIns="0" rIns="0" bIns="0" rtlCol="0" anchor="t"/>
          <a:lstStyle/>
          <a:p>
            <a:pPr marL="0" indent="0" algn="l">
              <a:lnSpc>
                <a:spcPts val="3450"/>
              </a:lnSpc>
              <a:buNone/>
            </a:pPr>
            <a:r>
              <a:rPr lang="en-US" sz="2750" b="1" dirty="0">
                <a:solidFill>
                  <a:schemeClr val="bg1"/>
                </a:solidFill>
                <a:latin typeface="Inter Bold" pitchFamily="34" charset="0"/>
                <a:ea typeface="Inter Bold" pitchFamily="34" charset="-122"/>
                <a:cs typeface="Inter Bold" pitchFamily="34" charset="-120"/>
              </a:rPr>
              <a:t>Seamless Cloud Synchronization</a:t>
            </a:r>
            <a:endParaRPr lang="en-US" sz="2750" dirty="0">
              <a:solidFill>
                <a:schemeClr val="bg1"/>
              </a:solidFill>
            </a:endParaRPr>
          </a:p>
        </p:txBody>
      </p:sp>
      <p:pic>
        <p:nvPicPr>
          <p:cNvPr id="3" name="Image 0" descr="preencoded.png"/>
          <p:cNvPicPr>
            <a:picLocks noChangeAspect="1"/>
          </p:cNvPicPr>
          <p:nvPr/>
        </p:nvPicPr>
        <p:blipFill>
          <a:blip r:embed="rId4"/>
          <a:stretch>
            <a:fillRect/>
          </a:stretch>
        </p:blipFill>
        <p:spPr>
          <a:xfrm>
            <a:off x="620911" y="1228227"/>
            <a:ext cx="6477953" cy="6477952"/>
          </a:xfrm>
          <a:prstGeom prst="rect">
            <a:avLst/>
          </a:prstGeom>
        </p:spPr>
      </p:pic>
      <p:sp>
        <p:nvSpPr>
          <p:cNvPr id="4" name="Text 1"/>
          <p:cNvSpPr/>
          <p:nvPr/>
        </p:nvSpPr>
        <p:spPr>
          <a:xfrm>
            <a:off x="7539157" y="1374815"/>
            <a:ext cx="4367927" cy="332542"/>
          </a:xfrm>
          <a:prstGeom prst="rect">
            <a:avLst/>
          </a:prstGeom>
          <a:noFill/>
          <a:ln/>
        </p:spPr>
        <p:txBody>
          <a:bodyPr wrap="none" lIns="0" tIns="0" rIns="0" bIns="0" rtlCol="0" anchor="t"/>
          <a:lstStyle/>
          <a:p>
            <a:pPr marL="0" indent="0" algn="l">
              <a:lnSpc>
                <a:spcPts val="2600"/>
              </a:lnSpc>
              <a:buNone/>
            </a:pPr>
            <a:r>
              <a:rPr lang="en-US" sz="2050" b="1" dirty="0">
                <a:solidFill>
                  <a:schemeClr val="bg1"/>
                </a:solidFill>
                <a:latin typeface="Inter Bold" pitchFamily="34" charset="0"/>
                <a:ea typeface="Inter Bold" pitchFamily="34" charset="-122"/>
                <a:cs typeface="Inter Bold" pitchFamily="34" charset="-120"/>
              </a:rPr>
              <a:t>Data Consistency Across Devices</a:t>
            </a:r>
            <a:endParaRPr lang="en-US" sz="2050" dirty="0">
              <a:solidFill>
                <a:schemeClr val="bg1"/>
              </a:solidFill>
            </a:endParaRPr>
          </a:p>
        </p:txBody>
      </p:sp>
      <p:sp>
        <p:nvSpPr>
          <p:cNvPr id="5" name="Text 2"/>
          <p:cNvSpPr/>
          <p:nvPr/>
        </p:nvSpPr>
        <p:spPr>
          <a:xfrm>
            <a:off x="7539157" y="1884759"/>
            <a:ext cx="6477953" cy="851535"/>
          </a:xfrm>
          <a:prstGeom prst="rect">
            <a:avLst/>
          </a:prstGeom>
          <a:noFill/>
          <a:ln/>
        </p:spPr>
        <p:txBody>
          <a:bodyPr wrap="square" lIns="0" tIns="0" rIns="0" bIns="0" rtlCol="0" anchor="t"/>
          <a:lstStyle/>
          <a:p>
            <a:pPr marL="0" indent="0" algn="l">
              <a:lnSpc>
                <a:spcPts val="2200"/>
              </a:lnSpc>
              <a:buNone/>
            </a:pPr>
            <a:r>
              <a:rPr lang="en-US" sz="1350" dirty="0">
                <a:solidFill>
                  <a:schemeClr val="bg1"/>
                </a:solidFill>
                <a:latin typeface="Inter" pitchFamily="34" charset="0"/>
                <a:ea typeface="Inter" pitchFamily="34" charset="-122"/>
                <a:cs typeface="Inter" pitchFamily="34" charset="-120"/>
              </a:rPr>
              <a:t>icpX ensures your progress is always up-to-date. Manual and automatic synchronization options keep your problems, status, ratings, and handle perfectly aligned across all your devices.</a:t>
            </a:r>
            <a:endParaRPr lang="en-US" sz="1350" dirty="0">
              <a:solidFill>
                <a:schemeClr val="bg1"/>
              </a:solidFill>
            </a:endParaRPr>
          </a:p>
        </p:txBody>
      </p:sp>
      <p:sp>
        <p:nvSpPr>
          <p:cNvPr id="6" name="Text 3"/>
          <p:cNvSpPr/>
          <p:nvPr/>
        </p:nvSpPr>
        <p:spPr>
          <a:xfrm>
            <a:off x="7539157" y="2895957"/>
            <a:ext cx="6477953" cy="283845"/>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chemeClr val="bg1"/>
                </a:solidFill>
                <a:latin typeface="Inter" pitchFamily="34" charset="0"/>
                <a:ea typeface="Inter" pitchFamily="34" charset="-122"/>
                <a:cs typeface="Inter" pitchFamily="34" charset="-120"/>
              </a:rPr>
              <a:t>Local Storage: SQLite</a:t>
            </a:r>
            <a:endParaRPr lang="en-US" sz="1350" dirty="0">
              <a:solidFill>
                <a:schemeClr val="bg1"/>
              </a:solidFill>
            </a:endParaRPr>
          </a:p>
        </p:txBody>
      </p:sp>
      <p:sp>
        <p:nvSpPr>
          <p:cNvPr id="7" name="Text 4"/>
          <p:cNvSpPr/>
          <p:nvPr/>
        </p:nvSpPr>
        <p:spPr>
          <a:xfrm>
            <a:off x="7539157" y="3241834"/>
            <a:ext cx="6477953" cy="283845"/>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chemeClr val="bg1"/>
                </a:solidFill>
                <a:latin typeface="Inter" pitchFamily="34" charset="0"/>
                <a:ea typeface="Inter" pitchFamily="34" charset="-122"/>
                <a:cs typeface="Inter" pitchFamily="34" charset="-120"/>
              </a:rPr>
              <a:t>Cloud Storage: Firebase Firestore</a:t>
            </a:r>
            <a:endParaRPr lang="en-US" sz="1350" dirty="0">
              <a:solidFill>
                <a:schemeClr val="bg1"/>
              </a:solidFill>
            </a:endParaRPr>
          </a:p>
        </p:txBody>
      </p:sp>
      <p:sp>
        <p:nvSpPr>
          <p:cNvPr id="8" name="Text 5"/>
          <p:cNvSpPr/>
          <p:nvPr/>
        </p:nvSpPr>
        <p:spPr>
          <a:xfrm>
            <a:off x="7539157" y="3587710"/>
            <a:ext cx="6477953" cy="283845"/>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chemeClr val="bg1"/>
                </a:solidFill>
                <a:latin typeface="Inter" pitchFamily="34" charset="0"/>
                <a:ea typeface="Inter" pitchFamily="34" charset="-122"/>
                <a:cs typeface="Inter" pitchFamily="34" charset="-120"/>
              </a:rPr>
              <a:t>Automated &amp; On-demand Sync</a:t>
            </a:r>
            <a:endParaRPr lang="en-US" sz="135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BD99791-C856-D18F-A249-B3B01E473C5D}"/>
              </a:ext>
            </a:extLst>
          </p:cNvPr>
          <p:cNvPicPr>
            <a:picLocks noChangeAspect="1"/>
          </p:cNvPicPr>
          <p:nvPr/>
        </p:nvPicPr>
        <p:blipFill>
          <a:blip r:embed="rId3"/>
          <a:stretch>
            <a:fillRect/>
          </a:stretch>
        </p:blipFill>
        <p:spPr>
          <a:xfrm>
            <a:off x="-328773" y="-981728"/>
            <a:ext cx="15431784" cy="9211328"/>
          </a:xfrm>
          <a:prstGeom prst="rect">
            <a:avLst/>
          </a:prstGeom>
        </p:spPr>
      </p:pic>
      <p:sp>
        <p:nvSpPr>
          <p:cNvPr id="2" name="Text 0"/>
          <p:cNvSpPr/>
          <p:nvPr/>
        </p:nvSpPr>
        <p:spPr>
          <a:xfrm>
            <a:off x="793790" y="2126813"/>
            <a:ext cx="4787384" cy="566976"/>
          </a:xfrm>
          <a:prstGeom prst="rect">
            <a:avLst/>
          </a:prstGeom>
          <a:noFill/>
          <a:ln/>
        </p:spPr>
        <p:txBody>
          <a:bodyPr wrap="none" lIns="0" tIns="0" rIns="0" bIns="0" rtlCol="0" anchor="t"/>
          <a:lstStyle/>
          <a:p>
            <a:pPr marL="0" indent="0" algn="l">
              <a:lnSpc>
                <a:spcPts val="4450"/>
              </a:lnSpc>
              <a:buNone/>
            </a:pPr>
            <a:r>
              <a:rPr lang="en-US" sz="3550" b="1" dirty="0">
                <a:solidFill>
                  <a:schemeClr val="bg1"/>
                </a:solidFill>
                <a:latin typeface="Inter Bold" pitchFamily="34" charset="0"/>
                <a:ea typeface="Inter Bold" pitchFamily="34" charset="-122"/>
                <a:cs typeface="Inter Bold" pitchFamily="34" charset="-120"/>
              </a:rPr>
              <a:t>Modern UI/UX Design</a:t>
            </a:r>
            <a:endParaRPr lang="en-US" sz="3550" dirty="0">
              <a:solidFill>
                <a:schemeClr val="bg1"/>
              </a:solidFill>
            </a:endParaRPr>
          </a:p>
        </p:txBody>
      </p:sp>
      <p:sp>
        <p:nvSpPr>
          <p:cNvPr id="3" name="Shape 1"/>
          <p:cNvSpPr/>
          <p:nvPr/>
        </p:nvSpPr>
        <p:spPr>
          <a:xfrm>
            <a:off x="793790" y="3147417"/>
            <a:ext cx="4196358" cy="2955250"/>
          </a:xfrm>
          <a:prstGeom prst="roundRect">
            <a:avLst>
              <a:gd name="adj" fmla="val 3224"/>
            </a:avLst>
          </a:prstGeom>
          <a:solidFill>
            <a:srgbClr val="DADBF1"/>
          </a:solidFill>
          <a:ln w="7620">
            <a:solidFill>
              <a:srgbClr val="C0C1D7"/>
            </a:solidFill>
            <a:prstDash val="solid"/>
          </a:ln>
        </p:spPr>
      </p:sp>
      <p:sp>
        <p:nvSpPr>
          <p:cNvPr id="4" name="Shape 2"/>
          <p:cNvSpPr/>
          <p:nvPr/>
        </p:nvSpPr>
        <p:spPr>
          <a:xfrm>
            <a:off x="1028224" y="3381851"/>
            <a:ext cx="680442" cy="680442"/>
          </a:xfrm>
          <a:prstGeom prst="roundRect">
            <a:avLst>
              <a:gd name="adj" fmla="val 13436980"/>
            </a:avLst>
          </a:prstGeom>
          <a:solidFill>
            <a:srgbClr val="4950BC"/>
          </a:solidFill>
          <a:ln/>
        </p:spPr>
      </p:sp>
      <p:pic>
        <p:nvPicPr>
          <p:cNvPr id="5" name="Image 0"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5390" y="3568898"/>
            <a:ext cx="306110" cy="306110"/>
          </a:xfrm>
          <a:prstGeom prst="rect">
            <a:avLst/>
          </a:prstGeom>
        </p:spPr>
      </p:pic>
      <p:sp>
        <p:nvSpPr>
          <p:cNvPr id="6" name="Text 3"/>
          <p:cNvSpPr/>
          <p:nvPr/>
        </p:nvSpPr>
        <p:spPr>
          <a:xfrm>
            <a:off x="1028224" y="4289108"/>
            <a:ext cx="3554730"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Material Design (Android)</a:t>
            </a:r>
            <a:endParaRPr lang="en-US" sz="2200" dirty="0"/>
          </a:p>
        </p:txBody>
      </p:sp>
      <p:sp>
        <p:nvSpPr>
          <p:cNvPr id="7" name="Text 4"/>
          <p:cNvSpPr/>
          <p:nvPr/>
        </p:nvSpPr>
        <p:spPr>
          <a:xfrm>
            <a:off x="1028224" y="477952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Intuitive and visually appealing interface for a smooth mobile experience.</a:t>
            </a:r>
            <a:endParaRPr lang="en-US" sz="1750" dirty="0"/>
          </a:p>
        </p:txBody>
      </p:sp>
      <p:sp>
        <p:nvSpPr>
          <p:cNvPr id="8" name="Shape 5"/>
          <p:cNvSpPr/>
          <p:nvPr/>
        </p:nvSpPr>
        <p:spPr>
          <a:xfrm>
            <a:off x="5216962" y="3147417"/>
            <a:ext cx="4196358" cy="2955250"/>
          </a:xfrm>
          <a:prstGeom prst="roundRect">
            <a:avLst>
              <a:gd name="adj" fmla="val 3224"/>
            </a:avLst>
          </a:prstGeom>
          <a:solidFill>
            <a:srgbClr val="DADBF1"/>
          </a:solidFill>
          <a:ln w="7620">
            <a:solidFill>
              <a:srgbClr val="C0C1D7"/>
            </a:solidFill>
            <a:prstDash val="solid"/>
          </a:ln>
        </p:spPr>
      </p:sp>
      <p:sp>
        <p:nvSpPr>
          <p:cNvPr id="9" name="Shape 6"/>
          <p:cNvSpPr/>
          <p:nvPr/>
        </p:nvSpPr>
        <p:spPr>
          <a:xfrm>
            <a:off x="5451396" y="3381851"/>
            <a:ext cx="680442" cy="680442"/>
          </a:xfrm>
          <a:prstGeom prst="roundRect">
            <a:avLst>
              <a:gd name="adj" fmla="val 13436980"/>
            </a:avLst>
          </a:prstGeom>
          <a:solidFill>
            <a:srgbClr val="4950BC"/>
          </a:solidFill>
          <a:ln/>
        </p:spPr>
      </p:sp>
      <p:pic>
        <p:nvPicPr>
          <p:cNvPr id="10"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8562" y="3568898"/>
            <a:ext cx="306110" cy="306110"/>
          </a:xfrm>
          <a:prstGeom prst="rect">
            <a:avLst/>
          </a:prstGeom>
        </p:spPr>
      </p:pic>
      <p:sp>
        <p:nvSpPr>
          <p:cNvPr id="11" name="Text 7"/>
          <p:cNvSpPr/>
          <p:nvPr/>
        </p:nvSpPr>
        <p:spPr>
          <a:xfrm>
            <a:off x="5451396" y="428910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JavaFX (Desktop)</a:t>
            </a:r>
            <a:endParaRPr lang="en-US" sz="2200" dirty="0"/>
          </a:p>
        </p:txBody>
      </p:sp>
      <p:sp>
        <p:nvSpPr>
          <p:cNvPr id="12" name="Text 8"/>
          <p:cNvSpPr/>
          <p:nvPr/>
        </p:nvSpPr>
        <p:spPr>
          <a:xfrm>
            <a:off x="5451396" y="477952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Rich, responsive, and customizable desktop interface for enhanced productivity.</a:t>
            </a:r>
            <a:endParaRPr lang="en-US" sz="1750" dirty="0"/>
          </a:p>
        </p:txBody>
      </p:sp>
      <p:sp>
        <p:nvSpPr>
          <p:cNvPr id="13" name="Shape 9"/>
          <p:cNvSpPr/>
          <p:nvPr/>
        </p:nvSpPr>
        <p:spPr>
          <a:xfrm>
            <a:off x="9640133" y="3147417"/>
            <a:ext cx="4196358" cy="2955250"/>
          </a:xfrm>
          <a:prstGeom prst="roundRect">
            <a:avLst>
              <a:gd name="adj" fmla="val 3224"/>
            </a:avLst>
          </a:prstGeom>
          <a:solidFill>
            <a:srgbClr val="DADBF1"/>
          </a:solidFill>
          <a:ln w="7620">
            <a:solidFill>
              <a:srgbClr val="C0C1D7"/>
            </a:solidFill>
            <a:prstDash val="solid"/>
          </a:ln>
        </p:spPr>
      </p:sp>
      <p:sp>
        <p:nvSpPr>
          <p:cNvPr id="14" name="Shape 10"/>
          <p:cNvSpPr/>
          <p:nvPr/>
        </p:nvSpPr>
        <p:spPr>
          <a:xfrm>
            <a:off x="9874568" y="3381851"/>
            <a:ext cx="680442" cy="680442"/>
          </a:xfrm>
          <a:prstGeom prst="roundRect">
            <a:avLst>
              <a:gd name="adj" fmla="val 13436980"/>
            </a:avLst>
          </a:prstGeom>
          <a:solidFill>
            <a:srgbClr val="4950BC"/>
          </a:solidFill>
          <a:ln/>
        </p:spPr>
      </p:sp>
      <p:pic>
        <p:nvPicPr>
          <p:cNvPr id="15"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61734" y="3568898"/>
            <a:ext cx="306110" cy="306110"/>
          </a:xfrm>
          <a:prstGeom prst="rect">
            <a:avLst/>
          </a:prstGeom>
        </p:spPr>
      </p:pic>
      <p:sp>
        <p:nvSpPr>
          <p:cNvPr id="16" name="Text 11"/>
          <p:cNvSpPr/>
          <p:nvPr/>
        </p:nvSpPr>
        <p:spPr>
          <a:xfrm>
            <a:off x="9874568" y="4289108"/>
            <a:ext cx="3686294"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Custom Themes &amp; Layouts</a:t>
            </a:r>
            <a:endParaRPr lang="en-US" sz="2200" dirty="0"/>
          </a:p>
        </p:txBody>
      </p:sp>
      <p:sp>
        <p:nvSpPr>
          <p:cNvPr id="17" name="Text 12"/>
          <p:cNvSpPr/>
          <p:nvPr/>
        </p:nvSpPr>
        <p:spPr>
          <a:xfrm>
            <a:off x="9874568" y="4779526"/>
            <a:ext cx="372749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Personalize your environment with various themes and responsive layouts adapting to your screen.</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35B1B38-77B0-9DAB-EEDC-A59684C9787F}"/>
              </a:ext>
            </a:extLst>
          </p:cNvPr>
          <p:cNvPicPr>
            <a:picLocks noChangeAspect="1"/>
          </p:cNvPicPr>
          <p:nvPr/>
        </p:nvPicPr>
        <p:blipFill>
          <a:blip r:embed="rId3"/>
          <a:stretch>
            <a:fillRect/>
          </a:stretch>
        </p:blipFill>
        <p:spPr>
          <a:xfrm>
            <a:off x="-277402" y="-947477"/>
            <a:ext cx="15298219" cy="9177077"/>
          </a:xfrm>
          <a:prstGeom prst="rect">
            <a:avLst/>
          </a:prstGeom>
        </p:spPr>
      </p:pic>
      <p:sp>
        <p:nvSpPr>
          <p:cNvPr id="2" name="Text 0"/>
          <p:cNvSpPr/>
          <p:nvPr/>
        </p:nvSpPr>
        <p:spPr>
          <a:xfrm>
            <a:off x="793790" y="963573"/>
            <a:ext cx="8143280" cy="566976"/>
          </a:xfrm>
          <a:prstGeom prst="rect">
            <a:avLst/>
          </a:prstGeom>
          <a:noFill/>
          <a:ln/>
        </p:spPr>
        <p:txBody>
          <a:bodyPr wrap="none" lIns="0" tIns="0" rIns="0" bIns="0" rtlCol="0" anchor="t"/>
          <a:lstStyle/>
          <a:p>
            <a:pPr marL="0" indent="0" algn="l">
              <a:lnSpc>
                <a:spcPts val="4450"/>
              </a:lnSpc>
              <a:buNone/>
            </a:pPr>
            <a:r>
              <a:rPr lang="en-US" sz="3550" b="1" dirty="0">
                <a:solidFill>
                  <a:schemeClr val="bg1"/>
                </a:solidFill>
                <a:latin typeface="Inter Bold" pitchFamily="34" charset="0"/>
                <a:ea typeface="Inter Bold" pitchFamily="34" charset="-122"/>
                <a:cs typeface="Inter Bold" pitchFamily="34" charset="-120"/>
              </a:rPr>
              <a:t>Technical Foundation: Android Stack</a:t>
            </a:r>
            <a:endParaRPr lang="en-US" sz="3550" dirty="0">
              <a:solidFill>
                <a:schemeClr val="bg1"/>
              </a:solidFill>
            </a:endParaRPr>
          </a:p>
        </p:txBody>
      </p:sp>
      <p:pic>
        <p:nvPicPr>
          <p:cNvPr id="3" name="Image 0" descr="preencoded.png"/>
          <p:cNvPicPr>
            <a:picLocks noChangeAspect="1"/>
          </p:cNvPicPr>
          <p:nvPr/>
        </p:nvPicPr>
        <p:blipFill>
          <a:blip r:embed="rId4"/>
          <a:stretch>
            <a:fillRect/>
          </a:stretch>
        </p:blipFill>
        <p:spPr>
          <a:xfrm>
            <a:off x="968451" y="1633253"/>
            <a:ext cx="4885015" cy="4885015"/>
          </a:xfrm>
          <a:prstGeom prst="rect">
            <a:avLst/>
          </a:prstGeom>
          <a:ln w="28575">
            <a:solidFill>
              <a:schemeClr val="bg1"/>
            </a:solidFill>
          </a:ln>
        </p:spPr>
      </p:pic>
      <p:sp>
        <p:nvSpPr>
          <p:cNvPr id="4" name="Text 1"/>
          <p:cNvSpPr/>
          <p:nvPr/>
        </p:nvSpPr>
        <p:spPr>
          <a:xfrm>
            <a:off x="6239828" y="207478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Gradle-based Build System:</a:t>
            </a:r>
            <a:r>
              <a:rPr lang="en-US" sz="1750" dirty="0">
                <a:solidFill>
                  <a:schemeClr val="bg1"/>
                </a:solidFill>
                <a:latin typeface="Inter" pitchFamily="34" charset="0"/>
                <a:ea typeface="Inter" pitchFamily="34" charset="-122"/>
                <a:cs typeface="Inter" pitchFamily="34" charset="-120"/>
              </a:rPr>
              <a:t> Efficient project management and dependency handling.</a:t>
            </a:r>
            <a:endParaRPr lang="en-US" sz="1750" dirty="0">
              <a:solidFill>
                <a:schemeClr val="bg1"/>
              </a:solidFill>
            </a:endParaRPr>
          </a:p>
        </p:txBody>
      </p:sp>
      <p:sp>
        <p:nvSpPr>
          <p:cNvPr id="5" name="Text 2"/>
          <p:cNvSpPr/>
          <p:nvPr/>
        </p:nvSpPr>
        <p:spPr>
          <a:xfrm>
            <a:off x="6239828" y="2879884"/>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Firebase Integration:</a:t>
            </a:r>
            <a:r>
              <a:rPr lang="en-US" sz="1750" dirty="0">
                <a:solidFill>
                  <a:schemeClr val="bg1"/>
                </a:solidFill>
                <a:latin typeface="Inter" pitchFamily="34" charset="0"/>
                <a:ea typeface="Inter" pitchFamily="34" charset="-122"/>
                <a:cs typeface="Inter" pitchFamily="34" charset="-120"/>
              </a:rPr>
              <a:t> Powers authentication, cloud storage (Firestore), and other backend services.</a:t>
            </a:r>
            <a:endParaRPr lang="en-US" sz="1750" dirty="0">
              <a:solidFill>
                <a:schemeClr val="bg1"/>
              </a:solidFill>
            </a:endParaRPr>
          </a:p>
        </p:txBody>
      </p:sp>
      <p:sp>
        <p:nvSpPr>
          <p:cNvPr id="6" name="Text 3"/>
          <p:cNvSpPr/>
          <p:nvPr/>
        </p:nvSpPr>
        <p:spPr>
          <a:xfrm>
            <a:off x="6239828" y="3684984"/>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WorkManager:</a:t>
            </a:r>
            <a:r>
              <a:rPr lang="en-US" sz="1750" dirty="0">
                <a:solidFill>
                  <a:schemeClr val="bg1"/>
                </a:solidFill>
                <a:latin typeface="Inter" pitchFamily="34" charset="0"/>
                <a:ea typeface="Inter" pitchFamily="34" charset="-122"/>
                <a:cs typeface="Inter" pitchFamily="34" charset="-120"/>
              </a:rPr>
              <a:t> Manages background tasks, ensuring reliable data synchronization.</a:t>
            </a:r>
            <a:endParaRPr lang="en-US" sz="1750" dirty="0">
              <a:solidFill>
                <a:schemeClr val="bg1"/>
              </a:solidFill>
            </a:endParaRPr>
          </a:p>
        </p:txBody>
      </p:sp>
      <p:sp>
        <p:nvSpPr>
          <p:cNvPr id="7" name="Text 4"/>
          <p:cNvSpPr/>
          <p:nvPr/>
        </p:nvSpPr>
        <p:spPr>
          <a:xfrm>
            <a:off x="6239828" y="4490085"/>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Local SQLite Database:</a:t>
            </a:r>
            <a:r>
              <a:rPr lang="en-US" sz="1750" dirty="0">
                <a:solidFill>
                  <a:schemeClr val="bg1"/>
                </a:solidFill>
                <a:latin typeface="Inter" pitchFamily="34" charset="0"/>
                <a:ea typeface="Inter" pitchFamily="34" charset="-122"/>
                <a:cs typeface="Inter" pitchFamily="34" charset="-120"/>
              </a:rPr>
              <a:t> Stores user data offline for quick access and robust persistence.</a:t>
            </a:r>
            <a:endParaRPr lang="en-US" sz="1750" dirty="0">
              <a:solidFill>
                <a:schemeClr val="bg1"/>
              </a:solidFill>
            </a:endParaRPr>
          </a:p>
        </p:txBody>
      </p:sp>
      <p:sp>
        <p:nvSpPr>
          <p:cNvPr id="8" name="Text 5"/>
          <p:cNvSpPr/>
          <p:nvPr/>
        </p:nvSpPr>
        <p:spPr>
          <a:xfrm>
            <a:off x="6239828" y="5295186"/>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Modular Code Structure:</a:t>
            </a:r>
            <a:r>
              <a:rPr lang="en-US" sz="1750" dirty="0">
                <a:solidFill>
                  <a:schemeClr val="bg1"/>
                </a:solidFill>
                <a:latin typeface="Inter" pitchFamily="34" charset="0"/>
                <a:ea typeface="Inter" pitchFamily="34" charset="-122"/>
                <a:cs typeface="Inter" pitchFamily="34" charset="-120"/>
              </a:rPr>
              <a:t> Enhances maintainability and scalability.</a:t>
            </a:r>
            <a:endParaRPr lang="en-US" sz="175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32F554-ED10-25E5-6627-3B59BDE5A3EE}"/>
              </a:ext>
            </a:extLst>
          </p:cNvPr>
          <p:cNvPicPr>
            <a:picLocks noChangeAspect="1"/>
          </p:cNvPicPr>
          <p:nvPr/>
        </p:nvPicPr>
        <p:blipFill>
          <a:blip r:embed="rId3"/>
          <a:stretch>
            <a:fillRect/>
          </a:stretch>
        </p:blipFill>
        <p:spPr>
          <a:xfrm>
            <a:off x="-123290" y="-844725"/>
            <a:ext cx="15298219" cy="9074325"/>
          </a:xfrm>
          <a:prstGeom prst="rect">
            <a:avLst/>
          </a:prstGeom>
        </p:spPr>
      </p:pic>
      <p:sp>
        <p:nvSpPr>
          <p:cNvPr id="2" name="Text 0"/>
          <p:cNvSpPr/>
          <p:nvPr/>
        </p:nvSpPr>
        <p:spPr>
          <a:xfrm>
            <a:off x="793790" y="963573"/>
            <a:ext cx="8216384" cy="566976"/>
          </a:xfrm>
          <a:prstGeom prst="rect">
            <a:avLst/>
          </a:prstGeom>
          <a:noFill/>
          <a:ln/>
        </p:spPr>
        <p:txBody>
          <a:bodyPr wrap="none" lIns="0" tIns="0" rIns="0" bIns="0" rtlCol="0" anchor="t"/>
          <a:lstStyle/>
          <a:p>
            <a:pPr marL="0" indent="0" algn="l">
              <a:lnSpc>
                <a:spcPts val="4450"/>
              </a:lnSpc>
              <a:buNone/>
            </a:pPr>
            <a:r>
              <a:rPr lang="en-US" sz="3550" b="1" dirty="0">
                <a:solidFill>
                  <a:schemeClr val="bg1"/>
                </a:solidFill>
                <a:latin typeface="Inter Bold" pitchFamily="34" charset="0"/>
                <a:ea typeface="Inter Bold" pitchFamily="34" charset="-122"/>
                <a:cs typeface="Inter Bold" pitchFamily="34" charset="-120"/>
              </a:rPr>
              <a:t>Technical Foundation: Desktop Stack</a:t>
            </a:r>
            <a:endParaRPr lang="en-US" sz="3550" dirty="0">
              <a:solidFill>
                <a:schemeClr val="bg1"/>
              </a:solidFill>
            </a:endParaRPr>
          </a:p>
        </p:txBody>
      </p:sp>
      <p:pic>
        <p:nvPicPr>
          <p:cNvPr id="3" name="Image 0" descr="preencoded.png"/>
          <p:cNvPicPr>
            <a:picLocks noChangeAspect="1"/>
          </p:cNvPicPr>
          <p:nvPr/>
        </p:nvPicPr>
        <p:blipFill>
          <a:blip r:embed="rId4"/>
          <a:stretch>
            <a:fillRect/>
          </a:stretch>
        </p:blipFill>
        <p:spPr>
          <a:xfrm>
            <a:off x="793790" y="2125861"/>
            <a:ext cx="4885015" cy="4885015"/>
          </a:xfrm>
          <a:prstGeom prst="rect">
            <a:avLst/>
          </a:prstGeom>
          <a:ln w="19050">
            <a:solidFill>
              <a:schemeClr val="bg1"/>
            </a:solidFill>
          </a:ln>
        </p:spPr>
      </p:pic>
      <p:sp>
        <p:nvSpPr>
          <p:cNvPr id="4" name="Text 1"/>
          <p:cNvSpPr/>
          <p:nvPr/>
        </p:nvSpPr>
        <p:spPr>
          <a:xfrm>
            <a:off x="6239828" y="2074783"/>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JavaFX Framework:</a:t>
            </a:r>
            <a:r>
              <a:rPr lang="en-US" sz="1750" dirty="0">
                <a:solidFill>
                  <a:schemeClr val="bg1"/>
                </a:solidFill>
                <a:latin typeface="Inter" pitchFamily="34" charset="0"/>
                <a:ea typeface="Inter" pitchFamily="34" charset="-122"/>
                <a:cs typeface="Inter" pitchFamily="34" charset="-120"/>
              </a:rPr>
              <a:t> Powers the modern and interactive graphical user interface.</a:t>
            </a:r>
            <a:endParaRPr lang="en-US" sz="1750" dirty="0">
              <a:solidFill>
                <a:schemeClr val="bg1"/>
              </a:solidFill>
            </a:endParaRPr>
          </a:p>
        </p:txBody>
      </p:sp>
      <p:sp>
        <p:nvSpPr>
          <p:cNvPr id="5" name="Text 2"/>
          <p:cNvSpPr/>
          <p:nvPr/>
        </p:nvSpPr>
        <p:spPr>
          <a:xfrm>
            <a:off x="6239828" y="2879884"/>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Maven Build System:</a:t>
            </a:r>
            <a:r>
              <a:rPr lang="en-US" sz="1750" dirty="0">
                <a:solidFill>
                  <a:schemeClr val="bg1"/>
                </a:solidFill>
                <a:latin typeface="Inter" pitchFamily="34" charset="0"/>
                <a:ea typeface="Inter" pitchFamily="34" charset="-122"/>
                <a:cs typeface="Inter" pitchFamily="34" charset="-120"/>
              </a:rPr>
              <a:t> Streamlines the build process and dependency management.</a:t>
            </a:r>
            <a:endParaRPr lang="en-US" sz="1750" dirty="0">
              <a:solidFill>
                <a:schemeClr val="bg1"/>
              </a:solidFill>
            </a:endParaRPr>
          </a:p>
        </p:txBody>
      </p:sp>
      <p:sp>
        <p:nvSpPr>
          <p:cNvPr id="6" name="Text 3"/>
          <p:cNvSpPr/>
          <p:nvPr/>
        </p:nvSpPr>
        <p:spPr>
          <a:xfrm>
            <a:off x="6239828" y="3684984"/>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SQLite Database:</a:t>
            </a:r>
            <a:r>
              <a:rPr lang="en-US" sz="1750" dirty="0">
                <a:solidFill>
                  <a:schemeClr val="bg1"/>
                </a:solidFill>
                <a:latin typeface="Inter" pitchFamily="34" charset="0"/>
                <a:ea typeface="Inter" pitchFamily="34" charset="-122"/>
                <a:cs typeface="Inter" pitchFamily="34" charset="-120"/>
              </a:rPr>
              <a:t> Provides local data storage for fast and reliable access.</a:t>
            </a:r>
            <a:endParaRPr lang="en-US" sz="1750" dirty="0">
              <a:solidFill>
                <a:schemeClr val="bg1"/>
              </a:solidFill>
            </a:endParaRPr>
          </a:p>
        </p:txBody>
      </p:sp>
      <p:sp>
        <p:nvSpPr>
          <p:cNvPr id="7" name="Text 4"/>
          <p:cNvSpPr/>
          <p:nvPr/>
        </p:nvSpPr>
        <p:spPr>
          <a:xfrm>
            <a:off x="6239828" y="4490085"/>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MVC Architecture:</a:t>
            </a:r>
            <a:r>
              <a:rPr lang="en-US" sz="1750" dirty="0">
                <a:solidFill>
                  <a:schemeClr val="bg1"/>
                </a:solidFill>
                <a:latin typeface="Inter" pitchFamily="34" charset="0"/>
                <a:ea typeface="Inter" pitchFamily="34" charset="-122"/>
                <a:cs typeface="Inter" pitchFamily="34" charset="-120"/>
              </a:rPr>
              <a:t> Promotes clear separation of concerns for robust development.</a:t>
            </a:r>
            <a:endParaRPr lang="en-US" sz="1750" dirty="0">
              <a:solidFill>
                <a:schemeClr val="bg1"/>
              </a:solidFill>
            </a:endParaRPr>
          </a:p>
        </p:txBody>
      </p:sp>
      <p:sp>
        <p:nvSpPr>
          <p:cNvPr id="8" name="Text 5"/>
          <p:cNvSpPr/>
          <p:nvPr/>
        </p:nvSpPr>
        <p:spPr>
          <a:xfrm>
            <a:off x="6239828" y="5295186"/>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FXML Views:</a:t>
            </a:r>
            <a:r>
              <a:rPr lang="en-US" sz="1750" dirty="0">
                <a:solidFill>
                  <a:schemeClr val="bg1"/>
                </a:solidFill>
                <a:latin typeface="Inter" pitchFamily="34" charset="0"/>
                <a:ea typeface="Inter" pitchFamily="34" charset="-122"/>
                <a:cs typeface="Inter" pitchFamily="34" charset="-120"/>
              </a:rPr>
              <a:t> Declarative UI design for easier development and maintenance.</a:t>
            </a:r>
            <a:endParaRPr lang="en-US" sz="1750" dirty="0">
              <a:solidFill>
                <a:schemeClr val="bg1"/>
              </a:solidFill>
            </a:endParaRPr>
          </a:p>
        </p:txBody>
      </p:sp>
      <p:sp>
        <p:nvSpPr>
          <p:cNvPr id="9" name="Text 6"/>
          <p:cNvSpPr/>
          <p:nvPr/>
        </p:nvSpPr>
        <p:spPr>
          <a:xfrm>
            <a:off x="6239828" y="6100286"/>
            <a:ext cx="7604284"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chemeClr val="bg1"/>
                </a:solidFill>
                <a:latin typeface="Inter" pitchFamily="34" charset="0"/>
                <a:ea typeface="Inter" pitchFamily="34" charset="-122"/>
                <a:cs typeface="Inter" pitchFamily="34" charset="-120"/>
              </a:rPr>
              <a:t>Google OAuth:</a:t>
            </a:r>
            <a:r>
              <a:rPr lang="en-US" sz="1750" dirty="0">
                <a:solidFill>
                  <a:schemeClr val="bg1"/>
                </a:solidFill>
                <a:latin typeface="Inter" pitchFamily="34" charset="0"/>
                <a:ea typeface="Inter" pitchFamily="34" charset="-122"/>
                <a:cs typeface="Inter" pitchFamily="34" charset="-120"/>
              </a:rPr>
              <a:t> Secure and convenient user authentication.</a:t>
            </a:r>
            <a:endParaRPr lang="en-US" sz="175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E860D-3A32-622B-9BA6-6640BC8DD87E}"/>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1ADD6061-6FA1-FDB8-2CC3-8B25307E7487}"/>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F4988B97-9147-DE56-04A7-F6FD7DFAEB07}"/>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83151B61-AA2F-0E25-3E3E-F1DA5F2F7EAC}"/>
              </a:ext>
            </a:extLst>
          </p:cNvPr>
          <p:cNvSpPr txBox="1"/>
          <p:nvPr/>
        </p:nvSpPr>
        <p:spPr>
          <a:xfrm>
            <a:off x="3023341" y="3276398"/>
            <a:ext cx="8208466" cy="1015663"/>
          </a:xfrm>
          <a:prstGeom prst="rect">
            <a:avLst/>
          </a:prstGeom>
          <a:noFill/>
        </p:spPr>
        <p:txBody>
          <a:bodyPr wrap="none" rtlCol="0">
            <a:spAutoFit/>
          </a:bodyPr>
          <a:lstStyle/>
          <a:p>
            <a:r>
              <a:rPr lang="en-US" sz="6000" dirty="0">
                <a:solidFill>
                  <a:schemeClr val="bg1"/>
                </a:solidFill>
              </a:rPr>
              <a:t>How do you use this app?</a:t>
            </a:r>
          </a:p>
        </p:txBody>
      </p:sp>
    </p:spTree>
    <p:extLst>
      <p:ext uri="{BB962C8B-B14F-4D97-AF65-F5344CB8AC3E}">
        <p14:creationId xmlns:p14="http://schemas.microsoft.com/office/powerpoint/2010/main" val="1387026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04D7-810F-E373-DCD6-56581BF87C91}"/>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0C6E63E8-85C9-6B40-F63D-3077B0C1864C}"/>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859335F5-1611-D18D-F82E-62CB8BEE9CCB}"/>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A0E301A2-EDA3-064C-26B0-832C34381199}"/>
              </a:ext>
            </a:extLst>
          </p:cNvPr>
          <p:cNvSpPr txBox="1"/>
          <p:nvPr/>
        </p:nvSpPr>
        <p:spPr>
          <a:xfrm>
            <a:off x="5558428" y="24432"/>
            <a:ext cx="2237087" cy="830997"/>
          </a:xfrm>
          <a:prstGeom prst="rect">
            <a:avLst/>
          </a:prstGeom>
          <a:noFill/>
        </p:spPr>
        <p:txBody>
          <a:bodyPr wrap="none" rtlCol="0">
            <a:spAutoFit/>
          </a:bodyPr>
          <a:lstStyle/>
          <a:p>
            <a:r>
              <a:rPr lang="en-US" sz="4800" dirty="0">
                <a:solidFill>
                  <a:schemeClr val="bg1"/>
                </a:solidFill>
              </a:rPr>
              <a:t>Desktop</a:t>
            </a:r>
          </a:p>
        </p:txBody>
      </p:sp>
      <p:sp>
        <p:nvSpPr>
          <p:cNvPr id="3" name="Shape 2">
            <a:extLst>
              <a:ext uri="{FF2B5EF4-FFF2-40B4-BE49-F238E27FC236}">
                <a16:creationId xmlns:a16="http://schemas.microsoft.com/office/drawing/2014/main" id="{00085D5E-EFF6-861D-FBD0-1AD9642866C6}"/>
              </a:ext>
            </a:extLst>
          </p:cNvPr>
          <p:cNvSpPr/>
          <p:nvPr/>
        </p:nvSpPr>
        <p:spPr>
          <a:xfrm>
            <a:off x="4540325" y="856365"/>
            <a:ext cx="4196358" cy="121920"/>
          </a:xfrm>
          <a:prstGeom prst="roundRect">
            <a:avLst>
              <a:gd name="adj" fmla="val 78139"/>
            </a:avLst>
          </a:prstGeom>
          <a:solidFill>
            <a:srgbClr val="4950BC"/>
          </a:solidFill>
          <a:ln/>
        </p:spPr>
        <p:txBody>
          <a:bodyPr/>
          <a:lstStyle/>
          <a:p>
            <a:endParaRPr lang="en-US" dirty="0"/>
          </a:p>
        </p:txBody>
      </p:sp>
      <p:pic>
        <p:nvPicPr>
          <p:cNvPr id="7" name="Picture 6">
            <a:extLst>
              <a:ext uri="{FF2B5EF4-FFF2-40B4-BE49-F238E27FC236}">
                <a16:creationId xmlns:a16="http://schemas.microsoft.com/office/drawing/2014/main" id="{168ADD8D-5670-5966-1D7E-B16735A84856}"/>
              </a:ext>
            </a:extLst>
          </p:cNvPr>
          <p:cNvPicPr>
            <a:picLocks noChangeAspect="1"/>
          </p:cNvPicPr>
          <p:nvPr/>
        </p:nvPicPr>
        <p:blipFill>
          <a:blip r:embed="rId4"/>
          <a:stretch>
            <a:fillRect/>
          </a:stretch>
        </p:blipFill>
        <p:spPr>
          <a:xfrm>
            <a:off x="2471469" y="2064301"/>
            <a:ext cx="8803783" cy="4716148"/>
          </a:xfrm>
          <a:prstGeom prst="rect">
            <a:avLst/>
          </a:prstGeom>
          <a:ln w="28575">
            <a:solidFill>
              <a:schemeClr val="accent1"/>
            </a:solidFill>
          </a:ln>
        </p:spPr>
      </p:pic>
      <p:sp>
        <p:nvSpPr>
          <p:cNvPr id="8" name="TextBox 7">
            <a:extLst>
              <a:ext uri="{FF2B5EF4-FFF2-40B4-BE49-F238E27FC236}">
                <a16:creationId xmlns:a16="http://schemas.microsoft.com/office/drawing/2014/main" id="{5EF1C0BF-DE23-A9EB-726C-F37986701FF8}"/>
              </a:ext>
            </a:extLst>
          </p:cNvPr>
          <p:cNvSpPr txBox="1"/>
          <p:nvPr/>
        </p:nvSpPr>
        <p:spPr>
          <a:xfrm>
            <a:off x="793790" y="1168976"/>
            <a:ext cx="7001725" cy="553998"/>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Welcome Screen: Create Account here :- </a:t>
            </a:r>
          </a:p>
        </p:txBody>
      </p:sp>
    </p:spTree>
    <p:extLst>
      <p:ext uri="{BB962C8B-B14F-4D97-AF65-F5344CB8AC3E}">
        <p14:creationId xmlns:p14="http://schemas.microsoft.com/office/powerpoint/2010/main" val="508453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B9B1-3D36-64F4-A245-6249EEC43BDE}"/>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56ACB943-8B1A-BB39-8DE7-38AE71108B10}"/>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E3E47FFD-FB0C-9EA7-7025-C0B71D443265}"/>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6037419C-7431-FF3C-84FA-1AC61A9C77E9}"/>
              </a:ext>
            </a:extLst>
          </p:cNvPr>
          <p:cNvSpPr txBox="1"/>
          <p:nvPr/>
        </p:nvSpPr>
        <p:spPr>
          <a:xfrm>
            <a:off x="5519960" y="15413"/>
            <a:ext cx="2237087" cy="830997"/>
          </a:xfrm>
          <a:prstGeom prst="rect">
            <a:avLst/>
          </a:prstGeom>
          <a:noFill/>
        </p:spPr>
        <p:txBody>
          <a:bodyPr wrap="none" rtlCol="0">
            <a:spAutoFit/>
          </a:bodyPr>
          <a:lstStyle/>
          <a:p>
            <a:r>
              <a:rPr lang="en-US" sz="4800" dirty="0">
                <a:solidFill>
                  <a:schemeClr val="bg1"/>
                </a:solidFill>
              </a:rPr>
              <a:t>Desktop</a:t>
            </a:r>
          </a:p>
        </p:txBody>
      </p:sp>
      <p:sp>
        <p:nvSpPr>
          <p:cNvPr id="3" name="Shape 2">
            <a:extLst>
              <a:ext uri="{FF2B5EF4-FFF2-40B4-BE49-F238E27FC236}">
                <a16:creationId xmlns:a16="http://schemas.microsoft.com/office/drawing/2014/main" id="{2ADF5691-F324-C1CD-8ED9-E780FD24587F}"/>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
        <p:nvSpPr>
          <p:cNvPr id="8" name="TextBox 7">
            <a:extLst>
              <a:ext uri="{FF2B5EF4-FFF2-40B4-BE49-F238E27FC236}">
                <a16:creationId xmlns:a16="http://schemas.microsoft.com/office/drawing/2014/main" id="{9497EDEA-5F6F-D434-D347-8B30BF4B3431}"/>
              </a:ext>
            </a:extLst>
          </p:cNvPr>
          <p:cNvSpPr txBox="1"/>
          <p:nvPr/>
        </p:nvSpPr>
        <p:spPr>
          <a:xfrm>
            <a:off x="680774" y="1300221"/>
            <a:ext cx="3661900" cy="2400657"/>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Dashboard : </a:t>
            </a:r>
          </a:p>
          <a:p>
            <a:pPr marL="914400" lvl="1" indent="-457200">
              <a:buFont typeface="Wingdings" panose="05000000000000000000" pitchFamily="2" charset="2"/>
              <a:buChar char="§"/>
            </a:pPr>
            <a:r>
              <a:rPr lang="en-US" sz="3000" dirty="0">
                <a:solidFill>
                  <a:schemeClr val="bg1"/>
                </a:solidFill>
              </a:rPr>
              <a:t>Contain Ratings</a:t>
            </a:r>
          </a:p>
          <a:p>
            <a:pPr marL="914400" lvl="1" indent="-457200">
              <a:buFont typeface="Wingdings" panose="05000000000000000000" pitchFamily="2" charset="2"/>
              <a:buChar char="§"/>
            </a:pPr>
            <a:r>
              <a:rPr lang="en-US" sz="3000" dirty="0">
                <a:solidFill>
                  <a:schemeClr val="bg1"/>
                </a:solidFill>
              </a:rPr>
              <a:t> Graph</a:t>
            </a:r>
          </a:p>
          <a:p>
            <a:pPr marL="914400" lvl="1" indent="-457200">
              <a:buFont typeface="Wingdings" panose="05000000000000000000" pitchFamily="2" charset="2"/>
              <a:buChar char="§"/>
            </a:pPr>
            <a:r>
              <a:rPr lang="en-US" sz="3000" dirty="0">
                <a:solidFill>
                  <a:schemeClr val="bg1"/>
                </a:solidFill>
              </a:rPr>
              <a:t>Heatmap </a:t>
            </a:r>
          </a:p>
          <a:p>
            <a:pPr marL="914400" lvl="1" indent="-457200">
              <a:buFont typeface="Wingdings" panose="05000000000000000000" pitchFamily="2" charset="2"/>
              <a:buChar char="§"/>
            </a:pPr>
            <a:r>
              <a:rPr lang="en-US" sz="3000" dirty="0">
                <a:solidFill>
                  <a:schemeClr val="bg1"/>
                </a:solidFill>
              </a:rPr>
              <a:t>Shortcuts</a:t>
            </a:r>
          </a:p>
        </p:txBody>
      </p:sp>
      <p:pic>
        <p:nvPicPr>
          <p:cNvPr id="9" name="Picture 8">
            <a:extLst>
              <a:ext uri="{FF2B5EF4-FFF2-40B4-BE49-F238E27FC236}">
                <a16:creationId xmlns:a16="http://schemas.microsoft.com/office/drawing/2014/main" id="{C59F2DF3-7CE8-475B-B2CF-6FDA30785032}"/>
              </a:ext>
            </a:extLst>
          </p:cNvPr>
          <p:cNvPicPr>
            <a:picLocks noChangeAspect="1"/>
          </p:cNvPicPr>
          <p:nvPr/>
        </p:nvPicPr>
        <p:blipFill>
          <a:blip r:embed="rId4"/>
          <a:stretch>
            <a:fillRect/>
          </a:stretch>
        </p:blipFill>
        <p:spPr>
          <a:xfrm>
            <a:off x="4554766" y="1571435"/>
            <a:ext cx="10066758" cy="5392719"/>
          </a:xfrm>
          <a:prstGeom prst="rect">
            <a:avLst/>
          </a:prstGeom>
        </p:spPr>
      </p:pic>
    </p:spTree>
    <p:extLst>
      <p:ext uri="{BB962C8B-B14F-4D97-AF65-F5344CB8AC3E}">
        <p14:creationId xmlns:p14="http://schemas.microsoft.com/office/powerpoint/2010/main" val="4255583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4BB0-D68F-7975-17E2-074767420FEA}"/>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F8F2B9A5-1F1E-844C-4F74-0E9F7CAA2AA6}"/>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A431BAF8-8A73-2A0C-71C9-83DF3BA4D4E7}"/>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2" name="TextBox 1">
            <a:extLst>
              <a:ext uri="{FF2B5EF4-FFF2-40B4-BE49-F238E27FC236}">
                <a16:creationId xmlns:a16="http://schemas.microsoft.com/office/drawing/2014/main" id="{F9503520-9998-CD58-20A4-4717834EEDAE}"/>
              </a:ext>
            </a:extLst>
          </p:cNvPr>
          <p:cNvSpPr txBox="1"/>
          <p:nvPr/>
        </p:nvSpPr>
        <p:spPr>
          <a:xfrm>
            <a:off x="5519961" y="227183"/>
            <a:ext cx="2237087" cy="830997"/>
          </a:xfrm>
          <a:prstGeom prst="rect">
            <a:avLst/>
          </a:prstGeom>
          <a:noFill/>
        </p:spPr>
        <p:txBody>
          <a:bodyPr wrap="none" rtlCol="0">
            <a:spAutoFit/>
          </a:bodyPr>
          <a:lstStyle/>
          <a:p>
            <a:r>
              <a:rPr lang="en-US" sz="4800" dirty="0">
                <a:solidFill>
                  <a:schemeClr val="bg1"/>
                </a:solidFill>
              </a:rPr>
              <a:t>Desktop</a:t>
            </a:r>
          </a:p>
        </p:txBody>
      </p:sp>
      <p:sp>
        <p:nvSpPr>
          <p:cNvPr id="3" name="Shape 2">
            <a:extLst>
              <a:ext uri="{FF2B5EF4-FFF2-40B4-BE49-F238E27FC236}">
                <a16:creationId xmlns:a16="http://schemas.microsoft.com/office/drawing/2014/main" id="{968E9B18-423A-E1B0-3097-831007B93A52}"/>
              </a:ext>
            </a:extLst>
          </p:cNvPr>
          <p:cNvSpPr/>
          <p:nvPr/>
        </p:nvSpPr>
        <p:spPr>
          <a:xfrm>
            <a:off x="4540325" y="1021985"/>
            <a:ext cx="4196358" cy="121920"/>
          </a:xfrm>
          <a:prstGeom prst="roundRect">
            <a:avLst>
              <a:gd name="adj" fmla="val 78139"/>
            </a:avLst>
          </a:prstGeom>
          <a:solidFill>
            <a:srgbClr val="4950BC"/>
          </a:solidFill>
          <a:ln/>
        </p:spPr>
        <p:txBody>
          <a:bodyPr/>
          <a:lstStyle/>
          <a:p>
            <a:endParaRPr lang="en-US" dirty="0"/>
          </a:p>
        </p:txBody>
      </p:sp>
      <p:sp>
        <p:nvSpPr>
          <p:cNvPr id="8" name="TextBox 7">
            <a:extLst>
              <a:ext uri="{FF2B5EF4-FFF2-40B4-BE49-F238E27FC236}">
                <a16:creationId xmlns:a16="http://schemas.microsoft.com/office/drawing/2014/main" id="{9E17EEC9-5014-D158-3D35-FAB477DF996E}"/>
              </a:ext>
            </a:extLst>
          </p:cNvPr>
          <p:cNvSpPr txBox="1"/>
          <p:nvPr/>
        </p:nvSpPr>
        <p:spPr>
          <a:xfrm>
            <a:off x="619128" y="1626976"/>
            <a:ext cx="3766609"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Target Section: </a:t>
            </a:r>
          </a:p>
          <a:p>
            <a:pPr marL="914400" lvl="1" indent="-457200">
              <a:buFont typeface="Wingdings" panose="05000000000000000000" pitchFamily="2" charset="2"/>
              <a:buChar char="§"/>
            </a:pPr>
            <a:r>
              <a:rPr lang="en-US" sz="3000" dirty="0">
                <a:solidFill>
                  <a:schemeClr val="bg1"/>
                </a:solidFill>
              </a:rPr>
              <a:t>Contain Targets</a:t>
            </a:r>
          </a:p>
          <a:p>
            <a:pPr marL="914400" lvl="1" indent="-457200">
              <a:buFont typeface="Wingdings" panose="05000000000000000000" pitchFamily="2" charset="2"/>
              <a:buChar char="§"/>
            </a:pPr>
            <a:r>
              <a:rPr lang="en-US" sz="3000" dirty="0">
                <a:solidFill>
                  <a:schemeClr val="bg1"/>
                </a:solidFill>
              </a:rPr>
              <a:t>Status of Targets</a:t>
            </a:r>
          </a:p>
          <a:p>
            <a:pPr marL="914400" lvl="1" indent="-457200">
              <a:buFont typeface="Wingdings" panose="05000000000000000000" pitchFamily="2" charset="2"/>
              <a:buChar char="§"/>
            </a:pPr>
            <a:r>
              <a:rPr lang="en-US" sz="3000" dirty="0">
                <a:solidFill>
                  <a:schemeClr val="bg1"/>
                </a:solidFill>
              </a:rPr>
              <a:t>Countdown</a:t>
            </a:r>
          </a:p>
        </p:txBody>
      </p:sp>
      <p:pic>
        <p:nvPicPr>
          <p:cNvPr id="7" name="Picture 6">
            <a:extLst>
              <a:ext uri="{FF2B5EF4-FFF2-40B4-BE49-F238E27FC236}">
                <a16:creationId xmlns:a16="http://schemas.microsoft.com/office/drawing/2014/main" id="{DF01F82B-20F8-489E-4DD0-1F9B33D55E6D}"/>
              </a:ext>
            </a:extLst>
          </p:cNvPr>
          <p:cNvPicPr>
            <a:picLocks noChangeAspect="1"/>
          </p:cNvPicPr>
          <p:nvPr/>
        </p:nvPicPr>
        <p:blipFill>
          <a:blip r:embed="rId4"/>
          <a:stretch>
            <a:fillRect/>
          </a:stretch>
        </p:blipFill>
        <p:spPr>
          <a:xfrm>
            <a:off x="4753515" y="1626976"/>
            <a:ext cx="9504768" cy="5096616"/>
          </a:xfrm>
          <a:prstGeom prst="rect">
            <a:avLst/>
          </a:prstGeom>
        </p:spPr>
      </p:pic>
    </p:spTree>
    <p:extLst>
      <p:ext uri="{BB962C8B-B14F-4D97-AF65-F5344CB8AC3E}">
        <p14:creationId xmlns:p14="http://schemas.microsoft.com/office/powerpoint/2010/main" val="1671029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94FD8-1EBB-9112-481F-760A5BD1922C}"/>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7E41F04A-920F-AC04-6170-CA980DDF62E9}"/>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5B0088B8-25D5-831A-C776-4C5F9FBDBABF}"/>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5F8C0521-1A11-44FE-7652-CD5B6273BFF4}"/>
              </a:ext>
            </a:extLst>
          </p:cNvPr>
          <p:cNvSpPr txBox="1"/>
          <p:nvPr/>
        </p:nvSpPr>
        <p:spPr>
          <a:xfrm>
            <a:off x="301835" y="1610585"/>
            <a:ext cx="4132093"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Contests Section: </a:t>
            </a:r>
          </a:p>
          <a:p>
            <a:pPr marL="914400" lvl="1" indent="-457200">
              <a:buFont typeface="Wingdings" panose="05000000000000000000" pitchFamily="2" charset="2"/>
              <a:buChar char="§"/>
            </a:pPr>
            <a:r>
              <a:rPr lang="en-US" sz="3000" dirty="0">
                <a:solidFill>
                  <a:schemeClr val="bg1"/>
                </a:solidFill>
              </a:rPr>
              <a:t>Upcoming Contests</a:t>
            </a:r>
          </a:p>
          <a:p>
            <a:pPr marL="914400" lvl="1" indent="-457200">
              <a:buFont typeface="Wingdings" panose="05000000000000000000" pitchFamily="2" charset="2"/>
              <a:buChar char="§"/>
            </a:pPr>
            <a:r>
              <a:rPr lang="en-US" sz="3000" dirty="0">
                <a:solidFill>
                  <a:schemeClr val="bg1"/>
                </a:solidFill>
              </a:rPr>
              <a:t>Running Contests</a:t>
            </a:r>
          </a:p>
          <a:p>
            <a:pPr marL="914400" lvl="1" indent="-457200">
              <a:buFont typeface="Wingdings" panose="05000000000000000000" pitchFamily="2" charset="2"/>
              <a:buChar char="§"/>
            </a:pPr>
            <a:r>
              <a:rPr lang="en-US" sz="3000" dirty="0">
                <a:solidFill>
                  <a:schemeClr val="bg1"/>
                </a:solidFill>
              </a:rPr>
              <a:t>Past Contests</a:t>
            </a:r>
          </a:p>
        </p:txBody>
      </p:sp>
      <p:pic>
        <p:nvPicPr>
          <p:cNvPr id="7" name="Picture 6">
            <a:extLst>
              <a:ext uri="{FF2B5EF4-FFF2-40B4-BE49-F238E27FC236}">
                <a16:creationId xmlns:a16="http://schemas.microsoft.com/office/drawing/2014/main" id="{44E604C0-505B-9FB5-2316-E36D5B0B34F3}"/>
              </a:ext>
            </a:extLst>
          </p:cNvPr>
          <p:cNvPicPr>
            <a:picLocks noChangeAspect="1"/>
          </p:cNvPicPr>
          <p:nvPr/>
        </p:nvPicPr>
        <p:blipFill>
          <a:blip r:embed="rId4"/>
          <a:stretch>
            <a:fillRect/>
          </a:stretch>
        </p:blipFill>
        <p:spPr>
          <a:xfrm>
            <a:off x="4676052" y="1296253"/>
            <a:ext cx="10083886" cy="6058093"/>
          </a:xfrm>
          <a:prstGeom prst="rect">
            <a:avLst/>
          </a:prstGeom>
        </p:spPr>
      </p:pic>
      <p:pic>
        <p:nvPicPr>
          <p:cNvPr id="10" name="Picture 9">
            <a:extLst>
              <a:ext uri="{FF2B5EF4-FFF2-40B4-BE49-F238E27FC236}">
                <a16:creationId xmlns:a16="http://schemas.microsoft.com/office/drawing/2014/main" id="{D7FB8A64-3082-4A87-EF15-F0FE7AAAB723}"/>
              </a:ext>
            </a:extLst>
          </p:cNvPr>
          <p:cNvPicPr>
            <a:picLocks noChangeAspect="1"/>
          </p:cNvPicPr>
          <p:nvPr/>
        </p:nvPicPr>
        <p:blipFill>
          <a:blip r:embed="rId5"/>
          <a:stretch>
            <a:fillRect/>
          </a:stretch>
        </p:blipFill>
        <p:spPr>
          <a:xfrm>
            <a:off x="351337" y="4606034"/>
            <a:ext cx="4082591" cy="2429838"/>
          </a:xfrm>
          <a:prstGeom prst="rect">
            <a:avLst/>
          </a:prstGeom>
        </p:spPr>
      </p:pic>
      <p:sp>
        <p:nvSpPr>
          <p:cNvPr id="11" name="TextBox 10">
            <a:extLst>
              <a:ext uri="{FF2B5EF4-FFF2-40B4-BE49-F238E27FC236}">
                <a16:creationId xmlns:a16="http://schemas.microsoft.com/office/drawing/2014/main" id="{70C3841B-8710-D01F-C3C4-CCDA1AEB66AD}"/>
              </a:ext>
            </a:extLst>
          </p:cNvPr>
          <p:cNvSpPr txBox="1"/>
          <p:nvPr/>
        </p:nvSpPr>
        <p:spPr>
          <a:xfrm>
            <a:off x="386275" y="7128580"/>
            <a:ext cx="3805529" cy="369332"/>
          </a:xfrm>
          <a:prstGeom prst="rect">
            <a:avLst/>
          </a:prstGeom>
          <a:noFill/>
        </p:spPr>
        <p:txBody>
          <a:bodyPr wrap="none" rtlCol="0">
            <a:spAutoFit/>
          </a:bodyPr>
          <a:lstStyle/>
          <a:p>
            <a:pPr marL="285750" indent="-285750">
              <a:buFont typeface="Wingdings" panose="05000000000000000000" pitchFamily="2" charset="2"/>
              <a:buChar char="§"/>
            </a:pPr>
            <a:r>
              <a:rPr lang="en-US" dirty="0">
                <a:solidFill>
                  <a:schemeClr val="bg1"/>
                </a:solidFill>
              </a:rPr>
              <a:t>Import Problem direct from contest</a:t>
            </a:r>
          </a:p>
        </p:txBody>
      </p:sp>
      <p:sp>
        <p:nvSpPr>
          <p:cNvPr id="12" name="TextBox 11">
            <a:extLst>
              <a:ext uri="{FF2B5EF4-FFF2-40B4-BE49-F238E27FC236}">
                <a16:creationId xmlns:a16="http://schemas.microsoft.com/office/drawing/2014/main" id="{B2937098-847A-E08D-7BF5-81FCFA8C068D}"/>
              </a:ext>
            </a:extLst>
          </p:cNvPr>
          <p:cNvSpPr txBox="1"/>
          <p:nvPr/>
        </p:nvSpPr>
        <p:spPr>
          <a:xfrm>
            <a:off x="5519960" y="15413"/>
            <a:ext cx="2237087" cy="830997"/>
          </a:xfrm>
          <a:prstGeom prst="rect">
            <a:avLst/>
          </a:prstGeom>
          <a:noFill/>
        </p:spPr>
        <p:txBody>
          <a:bodyPr wrap="none" rtlCol="0">
            <a:spAutoFit/>
          </a:bodyPr>
          <a:lstStyle/>
          <a:p>
            <a:r>
              <a:rPr lang="en-US" sz="4800" dirty="0">
                <a:solidFill>
                  <a:schemeClr val="bg1"/>
                </a:solidFill>
              </a:rPr>
              <a:t>Desktop</a:t>
            </a:r>
          </a:p>
        </p:txBody>
      </p:sp>
      <p:sp>
        <p:nvSpPr>
          <p:cNvPr id="13" name="Shape 2">
            <a:extLst>
              <a:ext uri="{FF2B5EF4-FFF2-40B4-BE49-F238E27FC236}">
                <a16:creationId xmlns:a16="http://schemas.microsoft.com/office/drawing/2014/main" id="{AE990C6C-BCBB-06F6-8E2A-8085173CE8A7}"/>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142959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4B050-CCAC-2F24-DF50-829F07A418CC}"/>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E7124C1C-CC92-C300-38E0-1873AF0FE990}"/>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FEF1EE79-2619-BC4F-A607-D0F03FB1CD20}"/>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35B827C0-38CF-64C8-D9C4-5E2F27520343}"/>
              </a:ext>
            </a:extLst>
          </p:cNvPr>
          <p:cNvSpPr txBox="1"/>
          <p:nvPr/>
        </p:nvSpPr>
        <p:spPr>
          <a:xfrm>
            <a:off x="621162" y="1342209"/>
            <a:ext cx="4147610"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Settings: </a:t>
            </a:r>
          </a:p>
          <a:p>
            <a:pPr marL="914400" lvl="1" indent="-457200">
              <a:buFont typeface="Wingdings" panose="05000000000000000000" pitchFamily="2" charset="2"/>
              <a:buChar char="§"/>
            </a:pPr>
            <a:r>
              <a:rPr lang="en-US" sz="3000" dirty="0">
                <a:solidFill>
                  <a:schemeClr val="bg1"/>
                </a:solidFill>
              </a:rPr>
              <a:t>Add CF handle</a:t>
            </a:r>
          </a:p>
          <a:p>
            <a:pPr marL="914400" lvl="1" indent="-457200">
              <a:buFont typeface="Wingdings" panose="05000000000000000000" pitchFamily="2" charset="2"/>
              <a:buChar char="§"/>
            </a:pPr>
            <a:r>
              <a:rPr lang="en-US" sz="3000" dirty="0">
                <a:solidFill>
                  <a:schemeClr val="bg1"/>
                </a:solidFill>
              </a:rPr>
              <a:t> Connect you Gmail</a:t>
            </a:r>
          </a:p>
          <a:p>
            <a:pPr marL="914400" lvl="1" indent="-457200">
              <a:buFont typeface="Wingdings" panose="05000000000000000000" pitchFamily="2" charset="2"/>
              <a:buChar char="§"/>
            </a:pPr>
            <a:r>
              <a:rPr lang="en-US" sz="3000" dirty="0">
                <a:solidFill>
                  <a:schemeClr val="bg1"/>
                </a:solidFill>
              </a:rPr>
              <a:t>Full Sync </a:t>
            </a:r>
          </a:p>
        </p:txBody>
      </p:sp>
      <p:pic>
        <p:nvPicPr>
          <p:cNvPr id="7" name="Picture 6">
            <a:extLst>
              <a:ext uri="{FF2B5EF4-FFF2-40B4-BE49-F238E27FC236}">
                <a16:creationId xmlns:a16="http://schemas.microsoft.com/office/drawing/2014/main" id="{295FA01A-1F13-D79C-66D6-290425C1F17C}"/>
              </a:ext>
            </a:extLst>
          </p:cNvPr>
          <p:cNvPicPr>
            <a:picLocks noChangeAspect="1"/>
          </p:cNvPicPr>
          <p:nvPr/>
        </p:nvPicPr>
        <p:blipFill>
          <a:blip r:embed="rId4"/>
          <a:stretch>
            <a:fillRect/>
          </a:stretch>
        </p:blipFill>
        <p:spPr>
          <a:xfrm>
            <a:off x="4879041" y="2067695"/>
            <a:ext cx="9819344" cy="5303166"/>
          </a:xfrm>
          <a:prstGeom prst="rect">
            <a:avLst/>
          </a:prstGeom>
        </p:spPr>
      </p:pic>
      <p:sp>
        <p:nvSpPr>
          <p:cNvPr id="9" name="TextBox 8">
            <a:extLst>
              <a:ext uri="{FF2B5EF4-FFF2-40B4-BE49-F238E27FC236}">
                <a16:creationId xmlns:a16="http://schemas.microsoft.com/office/drawing/2014/main" id="{4B166883-5E6F-DB51-AD66-E450B7BEB64C}"/>
              </a:ext>
            </a:extLst>
          </p:cNvPr>
          <p:cNvSpPr txBox="1"/>
          <p:nvPr/>
        </p:nvSpPr>
        <p:spPr>
          <a:xfrm>
            <a:off x="5519960" y="15413"/>
            <a:ext cx="2237087" cy="830997"/>
          </a:xfrm>
          <a:prstGeom prst="rect">
            <a:avLst/>
          </a:prstGeom>
          <a:noFill/>
        </p:spPr>
        <p:txBody>
          <a:bodyPr wrap="none" rtlCol="0">
            <a:spAutoFit/>
          </a:bodyPr>
          <a:lstStyle/>
          <a:p>
            <a:r>
              <a:rPr lang="en-US" sz="4800" dirty="0">
                <a:solidFill>
                  <a:schemeClr val="bg1"/>
                </a:solidFill>
              </a:rPr>
              <a:t>Desktop</a:t>
            </a:r>
          </a:p>
        </p:txBody>
      </p:sp>
      <p:sp>
        <p:nvSpPr>
          <p:cNvPr id="10" name="Shape 2">
            <a:extLst>
              <a:ext uri="{FF2B5EF4-FFF2-40B4-BE49-F238E27FC236}">
                <a16:creationId xmlns:a16="http://schemas.microsoft.com/office/drawing/2014/main" id="{8813048A-0D2E-CE60-C8D1-0165199440A8}"/>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2729318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EE550-A71F-6976-7872-931C1096CEB6}"/>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78F0AE4A-2304-AC89-4882-FC75DE99FCF8}"/>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D95F24DF-E1EB-8E1E-9B79-45250F72E68D}"/>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9136961D-1BE3-D17A-D38A-9E2E06000E2C}"/>
              </a:ext>
            </a:extLst>
          </p:cNvPr>
          <p:cNvSpPr txBox="1"/>
          <p:nvPr/>
        </p:nvSpPr>
        <p:spPr>
          <a:xfrm>
            <a:off x="516387" y="2022813"/>
            <a:ext cx="3672737"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Friends: </a:t>
            </a:r>
          </a:p>
          <a:p>
            <a:pPr marL="914400" lvl="1" indent="-457200">
              <a:buFont typeface="Wingdings" panose="05000000000000000000" pitchFamily="2" charset="2"/>
              <a:buChar char="§"/>
            </a:pPr>
            <a:r>
              <a:rPr lang="en-US" sz="3000" dirty="0">
                <a:solidFill>
                  <a:schemeClr val="bg1"/>
                </a:solidFill>
              </a:rPr>
              <a:t>Add Friends</a:t>
            </a:r>
          </a:p>
          <a:p>
            <a:pPr marL="914400" lvl="1" indent="-457200">
              <a:buFont typeface="Wingdings" panose="05000000000000000000" pitchFamily="2" charset="2"/>
              <a:buChar char="§"/>
            </a:pPr>
            <a:r>
              <a:rPr lang="en-US" sz="3000" dirty="0">
                <a:solidFill>
                  <a:schemeClr val="bg1"/>
                </a:solidFill>
              </a:rPr>
              <a:t>Observe </a:t>
            </a:r>
          </a:p>
          <a:p>
            <a:pPr lvl="1"/>
            <a:r>
              <a:rPr lang="en-US" sz="3000" dirty="0">
                <a:solidFill>
                  <a:schemeClr val="bg1"/>
                </a:solidFill>
              </a:rPr>
              <a:t>	Friends Progress</a:t>
            </a:r>
          </a:p>
        </p:txBody>
      </p:sp>
      <p:pic>
        <p:nvPicPr>
          <p:cNvPr id="7" name="Picture 6">
            <a:extLst>
              <a:ext uri="{FF2B5EF4-FFF2-40B4-BE49-F238E27FC236}">
                <a16:creationId xmlns:a16="http://schemas.microsoft.com/office/drawing/2014/main" id="{D4065C0C-981E-2180-30F6-A2695A36CD84}"/>
              </a:ext>
            </a:extLst>
          </p:cNvPr>
          <p:cNvPicPr>
            <a:picLocks noChangeAspect="1"/>
          </p:cNvPicPr>
          <p:nvPr/>
        </p:nvPicPr>
        <p:blipFill>
          <a:blip r:embed="rId4"/>
          <a:stretch>
            <a:fillRect/>
          </a:stretch>
        </p:blipFill>
        <p:spPr>
          <a:xfrm>
            <a:off x="4370023" y="2181984"/>
            <a:ext cx="10456378" cy="5623232"/>
          </a:xfrm>
          <a:prstGeom prst="rect">
            <a:avLst/>
          </a:prstGeom>
        </p:spPr>
      </p:pic>
      <p:sp>
        <p:nvSpPr>
          <p:cNvPr id="9" name="TextBox 8">
            <a:extLst>
              <a:ext uri="{FF2B5EF4-FFF2-40B4-BE49-F238E27FC236}">
                <a16:creationId xmlns:a16="http://schemas.microsoft.com/office/drawing/2014/main" id="{3F5F423A-C120-7897-46A2-68A89C830AB0}"/>
              </a:ext>
            </a:extLst>
          </p:cNvPr>
          <p:cNvSpPr txBox="1"/>
          <p:nvPr/>
        </p:nvSpPr>
        <p:spPr>
          <a:xfrm>
            <a:off x="5519960" y="15413"/>
            <a:ext cx="2237087" cy="830997"/>
          </a:xfrm>
          <a:prstGeom prst="rect">
            <a:avLst/>
          </a:prstGeom>
          <a:noFill/>
        </p:spPr>
        <p:txBody>
          <a:bodyPr wrap="none" rtlCol="0">
            <a:spAutoFit/>
          </a:bodyPr>
          <a:lstStyle/>
          <a:p>
            <a:r>
              <a:rPr lang="en-US" sz="4800" dirty="0">
                <a:solidFill>
                  <a:schemeClr val="bg1"/>
                </a:solidFill>
              </a:rPr>
              <a:t>Desktop</a:t>
            </a:r>
          </a:p>
        </p:txBody>
      </p:sp>
      <p:sp>
        <p:nvSpPr>
          <p:cNvPr id="10" name="Shape 2">
            <a:extLst>
              <a:ext uri="{FF2B5EF4-FFF2-40B4-BE49-F238E27FC236}">
                <a16:creationId xmlns:a16="http://schemas.microsoft.com/office/drawing/2014/main" id="{37E0BFBE-E7C8-3B9A-5B39-B83B356D39D6}"/>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786185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ADC45-2E9F-26BE-97D6-46DA6B49EE59}"/>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E3AEE2D9-F9F1-57DA-229E-FDE561B86F94}"/>
              </a:ext>
            </a:extLst>
          </p:cNvPr>
          <p:cNvPicPr>
            <a:picLocks noChangeAspect="1"/>
          </p:cNvPicPr>
          <p:nvPr/>
        </p:nvPicPr>
        <p:blipFill>
          <a:blip r:embed="rId3"/>
          <a:stretch>
            <a:fillRect/>
          </a:stretch>
        </p:blipFill>
        <p:spPr>
          <a:xfrm>
            <a:off x="-381000" y="-769791"/>
            <a:ext cx="15011400" cy="9057443"/>
          </a:xfrm>
          <a:prstGeom prst="rect">
            <a:avLst/>
          </a:prstGeom>
        </p:spPr>
      </p:pic>
      <p:sp>
        <p:nvSpPr>
          <p:cNvPr id="4" name="Text 1">
            <a:extLst>
              <a:ext uri="{FF2B5EF4-FFF2-40B4-BE49-F238E27FC236}">
                <a16:creationId xmlns:a16="http://schemas.microsoft.com/office/drawing/2014/main" id="{69BF53B1-37F2-423F-EB73-70E1BF3DEFB5}"/>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9AC1FDBF-7D91-40EB-582D-E6321CCFED4E}"/>
              </a:ext>
            </a:extLst>
          </p:cNvPr>
          <p:cNvSpPr txBox="1"/>
          <p:nvPr/>
        </p:nvSpPr>
        <p:spPr>
          <a:xfrm>
            <a:off x="1172221" y="1561148"/>
            <a:ext cx="3922869" cy="2400657"/>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Dashboard Section: </a:t>
            </a:r>
          </a:p>
          <a:p>
            <a:pPr marL="914400" lvl="1" indent="-457200">
              <a:buFont typeface="Wingdings" panose="05000000000000000000" pitchFamily="2" charset="2"/>
              <a:buChar char="§"/>
            </a:pPr>
            <a:r>
              <a:rPr lang="en-US" sz="3000" dirty="0">
                <a:solidFill>
                  <a:schemeClr val="bg1"/>
                </a:solidFill>
              </a:rPr>
              <a:t>Contains Statistics</a:t>
            </a:r>
          </a:p>
          <a:p>
            <a:pPr marL="914400" lvl="1" indent="-457200">
              <a:buFont typeface="Wingdings" panose="05000000000000000000" pitchFamily="2" charset="2"/>
              <a:buChar char="§"/>
            </a:pPr>
            <a:r>
              <a:rPr lang="en-US" sz="3000" dirty="0">
                <a:solidFill>
                  <a:schemeClr val="bg1"/>
                </a:solidFill>
              </a:rPr>
              <a:t>Rating Graph</a:t>
            </a:r>
          </a:p>
          <a:p>
            <a:pPr marL="914400" lvl="1" indent="-457200">
              <a:buFont typeface="Wingdings" panose="05000000000000000000" pitchFamily="2" charset="2"/>
              <a:buChar char="§"/>
            </a:pPr>
            <a:r>
              <a:rPr lang="en-US" sz="3000" dirty="0">
                <a:solidFill>
                  <a:schemeClr val="bg1"/>
                </a:solidFill>
              </a:rPr>
              <a:t>Heatmap</a:t>
            </a:r>
          </a:p>
          <a:p>
            <a:pPr marL="914400" lvl="1" indent="-457200">
              <a:buFont typeface="Wingdings" panose="05000000000000000000" pitchFamily="2" charset="2"/>
              <a:buChar char="§"/>
            </a:pPr>
            <a:endParaRPr lang="en-US" sz="3000" dirty="0">
              <a:solidFill>
                <a:schemeClr val="bg1"/>
              </a:solidFill>
            </a:endParaRPr>
          </a:p>
        </p:txBody>
      </p:sp>
      <p:pic>
        <p:nvPicPr>
          <p:cNvPr id="7" name="Picture 6">
            <a:extLst>
              <a:ext uri="{FF2B5EF4-FFF2-40B4-BE49-F238E27FC236}">
                <a16:creationId xmlns:a16="http://schemas.microsoft.com/office/drawing/2014/main" id="{8E89C585-87C3-1DE6-23A6-0BBA589C6334}"/>
              </a:ext>
            </a:extLst>
          </p:cNvPr>
          <p:cNvPicPr>
            <a:picLocks noChangeAspect="1"/>
          </p:cNvPicPr>
          <p:nvPr/>
        </p:nvPicPr>
        <p:blipFill>
          <a:blip r:embed="rId4"/>
          <a:stretch>
            <a:fillRect/>
          </a:stretch>
        </p:blipFill>
        <p:spPr>
          <a:xfrm>
            <a:off x="10772240" y="1142999"/>
            <a:ext cx="3372707" cy="6663295"/>
          </a:xfrm>
          <a:prstGeom prst="roundRect">
            <a:avLst/>
          </a:prstGeom>
        </p:spPr>
      </p:pic>
      <p:pic>
        <p:nvPicPr>
          <p:cNvPr id="9" name="Picture 8">
            <a:extLst>
              <a:ext uri="{FF2B5EF4-FFF2-40B4-BE49-F238E27FC236}">
                <a16:creationId xmlns:a16="http://schemas.microsoft.com/office/drawing/2014/main" id="{33030C34-36B1-BF05-986E-719909526870}"/>
              </a:ext>
            </a:extLst>
          </p:cNvPr>
          <p:cNvPicPr>
            <a:picLocks noChangeAspect="1"/>
          </p:cNvPicPr>
          <p:nvPr/>
        </p:nvPicPr>
        <p:blipFill>
          <a:blip r:embed="rId5"/>
          <a:stretch>
            <a:fillRect/>
          </a:stretch>
        </p:blipFill>
        <p:spPr>
          <a:xfrm>
            <a:off x="7854690" y="2565070"/>
            <a:ext cx="2432098" cy="4940198"/>
          </a:xfrm>
          <a:prstGeom prst="roundRect">
            <a:avLst/>
          </a:prstGeom>
        </p:spPr>
      </p:pic>
      <p:sp>
        <p:nvSpPr>
          <p:cNvPr id="10" name="TextBox 9">
            <a:extLst>
              <a:ext uri="{FF2B5EF4-FFF2-40B4-BE49-F238E27FC236}">
                <a16:creationId xmlns:a16="http://schemas.microsoft.com/office/drawing/2014/main" id="{78519909-21FB-B987-DAC1-5CC20F97A969}"/>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1" name="Shape 2">
            <a:extLst>
              <a:ext uri="{FF2B5EF4-FFF2-40B4-BE49-F238E27FC236}">
                <a16:creationId xmlns:a16="http://schemas.microsoft.com/office/drawing/2014/main" id="{0460956F-E6E9-3B94-83A9-605C1B093315}"/>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648677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5B8D9-2C76-3AE4-CC67-2BCD94EE09C2}"/>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57B43879-7099-1DA3-128B-E315151D6432}"/>
              </a:ext>
            </a:extLst>
          </p:cNvPr>
          <p:cNvPicPr>
            <a:picLocks noChangeAspect="1"/>
          </p:cNvPicPr>
          <p:nvPr/>
        </p:nvPicPr>
        <p:blipFill>
          <a:blip r:embed="rId3"/>
          <a:stretch>
            <a:fillRect/>
          </a:stretch>
        </p:blipFill>
        <p:spPr>
          <a:xfrm>
            <a:off x="-99302" y="-752852"/>
            <a:ext cx="15011400" cy="9057443"/>
          </a:xfrm>
          <a:prstGeom prst="rect">
            <a:avLst/>
          </a:prstGeom>
        </p:spPr>
      </p:pic>
      <p:sp>
        <p:nvSpPr>
          <p:cNvPr id="4" name="Text 1">
            <a:extLst>
              <a:ext uri="{FF2B5EF4-FFF2-40B4-BE49-F238E27FC236}">
                <a16:creationId xmlns:a16="http://schemas.microsoft.com/office/drawing/2014/main" id="{D2C70211-5544-0713-A3D2-767176DEEC81}"/>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C0D5F60F-1E68-9C36-A36A-9F7B603A86BC}"/>
              </a:ext>
            </a:extLst>
          </p:cNvPr>
          <p:cNvSpPr txBox="1"/>
          <p:nvPr/>
        </p:nvSpPr>
        <p:spPr>
          <a:xfrm>
            <a:off x="773716" y="1664618"/>
            <a:ext cx="3766609"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Target Section: </a:t>
            </a:r>
          </a:p>
          <a:p>
            <a:pPr marL="914400" lvl="1" indent="-457200">
              <a:buFont typeface="Wingdings" panose="05000000000000000000" pitchFamily="2" charset="2"/>
              <a:buChar char="§"/>
            </a:pPr>
            <a:r>
              <a:rPr lang="en-US" sz="3000" dirty="0">
                <a:solidFill>
                  <a:schemeClr val="bg1"/>
                </a:solidFill>
              </a:rPr>
              <a:t>Contain Targets</a:t>
            </a:r>
          </a:p>
          <a:p>
            <a:pPr marL="914400" lvl="1" indent="-457200">
              <a:buFont typeface="Wingdings" panose="05000000000000000000" pitchFamily="2" charset="2"/>
              <a:buChar char="§"/>
            </a:pPr>
            <a:r>
              <a:rPr lang="en-US" sz="3000" dirty="0">
                <a:solidFill>
                  <a:schemeClr val="bg1"/>
                </a:solidFill>
              </a:rPr>
              <a:t> Status of Targets</a:t>
            </a:r>
          </a:p>
          <a:p>
            <a:pPr marL="914400" lvl="1" indent="-457200">
              <a:buFont typeface="Wingdings" panose="05000000000000000000" pitchFamily="2" charset="2"/>
              <a:buChar char="§"/>
            </a:pPr>
            <a:r>
              <a:rPr lang="en-US" sz="3000" dirty="0">
                <a:solidFill>
                  <a:schemeClr val="bg1"/>
                </a:solidFill>
              </a:rPr>
              <a:t>Countdown</a:t>
            </a:r>
          </a:p>
        </p:txBody>
      </p:sp>
      <p:pic>
        <p:nvPicPr>
          <p:cNvPr id="7" name="Picture 6">
            <a:extLst>
              <a:ext uri="{FF2B5EF4-FFF2-40B4-BE49-F238E27FC236}">
                <a16:creationId xmlns:a16="http://schemas.microsoft.com/office/drawing/2014/main" id="{5C956161-7297-AD29-863F-068C2D9C1666}"/>
              </a:ext>
            </a:extLst>
          </p:cNvPr>
          <p:cNvPicPr>
            <a:picLocks noChangeAspect="1"/>
          </p:cNvPicPr>
          <p:nvPr/>
        </p:nvPicPr>
        <p:blipFill>
          <a:blip r:embed="rId4"/>
          <a:stretch>
            <a:fillRect/>
          </a:stretch>
        </p:blipFill>
        <p:spPr>
          <a:xfrm>
            <a:off x="10638131" y="1255306"/>
            <a:ext cx="3194315" cy="6653628"/>
          </a:xfrm>
          <a:prstGeom prst="roundRect">
            <a:avLst/>
          </a:prstGeom>
        </p:spPr>
      </p:pic>
      <p:pic>
        <p:nvPicPr>
          <p:cNvPr id="10" name="Picture 9">
            <a:extLst>
              <a:ext uri="{FF2B5EF4-FFF2-40B4-BE49-F238E27FC236}">
                <a16:creationId xmlns:a16="http://schemas.microsoft.com/office/drawing/2014/main" id="{3386D80A-72B5-D8A7-5ACC-F819FB92EC93}"/>
              </a:ext>
            </a:extLst>
          </p:cNvPr>
          <p:cNvPicPr>
            <a:picLocks noChangeAspect="1"/>
          </p:cNvPicPr>
          <p:nvPr/>
        </p:nvPicPr>
        <p:blipFill>
          <a:blip r:embed="rId5"/>
          <a:stretch>
            <a:fillRect/>
          </a:stretch>
        </p:blipFill>
        <p:spPr>
          <a:xfrm>
            <a:off x="4754276" y="1556551"/>
            <a:ext cx="2560924" cy="3355010"/>
          </a:xfrm>
          <a:prstGeom prst="roundRect">
            <a:avLst/>
          </a:prstGeom>
        </p:spPr>
      </p:pic>
      <p:pic>
        <p:nvPicPr>
          <p:cNvPr id="12" name="Picture 11">
            <a:extLst>
              <a:ext uri="{FF2B5EF4-FFF2-40B4-BE49-F238E27FC236}">
                <a16:creationId xmlns:a16="http://schemas.microsoft.com/office/drawing/2014/main" id="{158D32E3-5128-69A1-0BCD-694593F71D01}"/>
              </a:ext>
            </a:extLst>
          </p:cNvPr>
          <p:cNvPicPr>
            <a:picLocks noChangeAspect="1"/>
          </p:cNvPicPr>
          <p:nvPr/>
        </p:nvPicPr>
        <p:blipFill>
          <a:blip r:embed="rId6"/>
          <a:stretch>
            <a:fillRect/>
          </a:stretch>
        </p:blipFill>
        <p:spPr>
          <a:xfrm>
            <a:off x="7846272" y="1493852"/>
            <a:ext cx="2305479" cy="3351323"/>
          </a:xfrm>
          <a:prstGeom prst="roundRect">
            <a:avLst/>
          </a:prstGeom>
        </p:spPr>
      </p:pic>
      <p:sp>
        <p:nvSpPr>
          <p:cNvPr id="13" name="TextBox 12">
            <a:extLst>
              <a:ext uri="{FF2B5EF4-FFF2-40B4-BE49-F238E27FC236}">
                <a16:creationId xmlns:a16="http://schemas.microsoft.com/office/drawing/2014/main" id="{5692CFDE-3948-8714-9208-AD479FFE28D8}"/>
              </a:ext>
            </a:extLst>
          </p:cNvPr>
          <p:cNvSpPr txBox="1"/>
          <p:nvPr/>
        </p:nvSpPr>
        <p:spPr>
          <a:xfrm>
            <a:off x="4754276" y="4977936"/>
            <a:ext cx="2491323" cy="369332"/>
          </a:xfrm>
          <a:prstGeom prst="rect">
            <a:avLst/>
          </a:prstGeom>
          <a:noFill/>
        </p:spPr>
        <p:txBody>
          <a:bodyPr wrap="none" rtlCol="0">
            <a:spAutoFit/>
          </a:bodyPr>
          <a:lstStyle/>
          <a:p>
            <a:pPr marL="285750" indent="-285750">
              <a:buFont typeface="Wingdings" panose="05000000000000000000" pitchFamily="2" charset="2"/>
              <a:buChar char="q"/>
            </a:pPr>
            <a:r>
              <a:rPr lang="en-US" dirty="0">
                <a:solidFill>
                  <a:schemeClr val="bg1"/>
                </a:solidFill>
              </a:rPr>
              <a:t>Add Problem By Links</a:t>
            </a:r>
          </a:p>
        </p:txBody>
      </p:sp>
      <p:sp>
        <p:nvSpPr>
          <p:cNvPr id="14" name="TextBox 13">
            <a:extLst>
              <a:ext uri="{FF2B5EF4-FFF2-40B4-BE49-F238E27FC236}">
                <a16:creationId xmlns:a16="http://schemas.microsoft.com/office/drawing/2014/main" id="{FD5BFE5D-4D15-AC23-93B7-689182EE7B78}"/>
              </a:ext>
            </a:extLst>
          </p:cNvPr>
          <p:cNvSpPr txBox="1"/>
          <p:nvPr/>
        </p:nvSpPr>
        <p:spPr>
          <a:xfrm>
            <a:off x="7476391" y="4977936"/>
            <a:ext cx="2835713" cy="369332"/>
          </a:xfrm>
          <a:prstGeom prst="rect">
            <a:avLst/>
          </a:prstGeom>
          <a:noFill/>
        </p:spPr>
        <p:txBody>
          <a:bodyPr wrap="none" rtlCol="0">
            <a:spAutoFit/>
          </a:bodyPr>
          <a:lstStyle/>
          <a:p>
            <a:pPr marL="285750" indent="-285750">
              <a:buFont typeface="Wingdings" panose="05000000000000000000" pitchFamily="2" charset="2"/>
              <a:buChar char="q"/>
            </a:pPr>
            <a:r>
              <a:rPr lang="en-US" dirty="0">
                <a:solidFill>
                  <a:schemeClr val="bg1"/>
                </a:solidFill>
              </a:rPr>
              <a:t>Add Problem By Contests</a:t>
            </a:r>
          </a:p>
        </p:txBody>
      </p:sp>
      <p:sp>
        <p:nvSpPr>
          <p:cNvPr id="15" name="TextBox 14">
            <a:extLst>
              <a:ext uri="{FF2B5EF4-FFF2-40B4-BE49-F238E27FC236}">
                <a16:creationId xmlns:a16="http://schemas.microsoft.com/office/drawing/2014/main" id="{4E00D7F7-C51E-035F-4A85-14EDD9D47FCF}"/>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6" name="Shape 2">
            <a:extLst>
              <a:ext uri="{FF2B5EF4-FFF2-40B4-BE49-F238E27FC236}">
                <a16:creationId xmlns:a16="http://schemas.microsoft.com/office/drawing/2014/main" id="{59983141-3F1A-D8D1-D5C9-E73472DD05D7}"/>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001960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C4676-7D0F-8735-8A12-B7393139FC3A}"/>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C97319E6-6F85-6B86-3B08-2F72A11CA8BE}"/>
              </a:ext>
            </a:extLst>
          </p:cNvPr>
          <p:cNvPicPr>
            <a:picLocks noChangeAspect="1"/>
          </p:cNvPicPr>
          <p:nvPr/>
        </p:nvPicPr>
        <p:blipFill>
          <a:blip r:embed="rId3"/>
          <a:stretch>
            <a:fillRect/>
          </a:stretch>
        </p:blipFill>
        <p:spPr>
          <a:xfrm>
            <a:off x="-252149" y="-843256"/>
            <a:ext cx="15011400" cy="9268065"/>
          </a:xfrm>
          <a:prstGeom prst="rect">
            <a:avLst/>
          </a:prstGeom>
        </p:spPr>
      </p:pic>
      <p:sp>
        <p:nvSpPr>
          <p:cNvPr id="4" name="Text 1">
            <a:extLst>
              <a:ext uri="{FF2B5EF4-FFF2-40B4-BE49-F238E27FC236}">
                <a16:creationId xmlns:a16="http://schemas.microsoft.com/office/drawing/2014/main" id="{1A10A2DC-1936-FD6B-7483-03BF4ED4EAE1}"/>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C7A228B2-6B78-772D-7F7F-ED8550B18633}"/>
              </a:ext>
            </a:extLst>
          </p:cNvPr>
          <p:cNvSpPr txBox="1"/>
          <p:nvPr/>
        </p:nvSpPr>
        <p:spPr>
          <a:xfrm>
            <a:off x="1019821" y="1358274"/>
            <a:ext cx="4460132" cy="553998"/>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WebView Through </a:t>
            </a:r>
            <a:r>
              <a:rPr lang="en-US" sz="3000" dirty="0" err="1">
                <a:solidFill>
                  <a:schemeClr val="bg1"/>
                </a:solidFill>
              </a:rPr>
              <a:t>icpX</a:t>
            </a:r>
            <a:r>
              <a:rPr lang="en-US" sz="3000" dirty="0">
                <a:solidFill>
                  <a:schemeClr val="bg1"/>
                </a:solidFill>
              </a:rPr>
              <a:t>: </a:t>
            </a:r>
          </a:p>
        </p:txBody>
      </p:sp>
      <p:pic>
        <p:nvPicPr>
          <p:cNvPr id="11" name="Picture 10">
            <a:extLst>
              <a:ext uri="{FF2B5EF4-FFF2-40B4-BE49-F238E27FC236}">
                <a16:creationId xmlns:a16="http://schemas.microsoft.com/office/drawing/2014/main" id="{ACC489FC-9177-4A6A-1786-ABC09AE440E6}"/>
              </a:ext>
            </a:extLst>
          </p:cNvPr>
          <p:cNvPicPr>
            <a:picLocks noChangeAspect="1"/>
          </p:cNvPicPr>
          <p:nvPr/>
        </p:nvPicPr>
        <p:blipFill>
          <a:blip r:embed="rId4"/>
          <a:stretch>
            <a:fillRect/>
          </a:stretch>
        </p:blipFill>
        <p:spPr>
          <a:xfrm>
            <a:off x="11570072" y="1209675"/>
            <a:ext cx="2860898" cy="5993316"/>
          </a:xfrm>
          <a:prstGeom prst="roundRect">
            <a:avLst/>
          </a:prstGeom>
        </p:spPr>
      </p:pic>
      <p:sp>
        <p:nvSpPr>
          <p:cNvPr id="12" name="TextBox 11">
            <a:extLst>
              <a:ext uri="{FF2B5EF4-FFF2-40B4-BE49-F238E27FC236}">
                <a16:creationId xmlns:a16="http://schemas.microsoft.com/office/drawing/2014/main" id="{237DB1BC-6B79-48EE-9C57-333F40D001E1}"/>
              </a:ext>
            </a:extLst>
          </p:cNvPr>
          <p:cNvSpPr txBox="1"/>
          <p:nvPr/>
        </p:nvSpPr>
        <p:spPr>
          <a:xfrm>
            <a:off x="1019821" y="2144906"/>
            <a:ext cx="4460132" cy="553998"/>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WebView Through </a:t>
            </a:r>
            <a:r>
              <a:rPr lang="en-US" sz="3000" dirty="0" err="1">
                <a:solidFill>
                  <a:schemeClr val="bg1"/>
                </a:solidFill>
              </a:rPr>
              <a:t>icpX</a:t>
            </a:r>
            <a:r>
              <a:rPr lang="en-US" sz="3000" dirty="0">
                <a:solidFill>
                  <a:schemeClr val="bg1"/>
                </a:solidFill>
              </a:rPr>
              <a:t>: </a:t>
            </a:r>
          </a:p>
        </p:txBody>
      </p:sp>
      <p:pic>
        <p:nvPicPr>
          <p:cNvPr id="14" name="Picture 13">
            <a:extLst>
              <a:ext uri="{FF2B5EF4-FFF2-40B4-BE49-F238E27FC236}">
                <a16:creationId xmlns:a16="http://schemas.microsoft.com/office/drawing/2014/main" id="{6FC9E653-0417-319E-64F6-9B70DD3A971C}"/>
              </a:ext>
            </a:extLst>
          </p:cNvPr>
          <p:cNvPicPr>
            <a:picLocks noChangeAspect="1"/>
          </p:cNvPicPr>
          <p:nvPr/>
        </p:nvPicPr>
        <p:blipFill>
          <a:blip r:embed="rId5"/>
          <a:stretch>
            <a:fillRect/>
          </a:stretch>
        </p:blipFill>
        <p:spPr>
          <a:xfrm>
            <a:off x="6862347" y="2841166"/>
            <a:ext cx="4056727" cy="883956"/>
          </a:xfrm>
          <a:prstGeom prst="roundRect">
            <a:avLst/>
          </a:prstGeom>
        </p:spPr>
      </p:pic>
      <p:pic>
        <p:nvPicPr>
          <p:cNvPr id="16" name="Picture 15">
            <a:extLst>
              <a:ext uri="{FF2B5EF4-FFF2-40B4-BE49-F238E27FC236}">
                <a16:creationId xmlns:a16="http://schemas.microsoft.com/office/drawing/2014/main" id="{8682598A-CAFF-BC66-AAB5-3AFA95CB57F6}"/>
              </a:ext>
            </a:extLst>
          </p:cNvPr>
          <p:cNvPicPr>
            <a:picLocks noChangeAspect="1"/>
          </p:cNvPicPr>
          <p:nvPr/>
        </p:nvPicPr>
        <p:blipFill>
          <a:blip r:embed="rId6"/>
          <a:srcRect t="84871"/>
          <a:stretch>
            <a:fillRect/>
          </a:stretch>
        </p:blipFill>
        <p:spPr>
          <a:xfrm>
            <a:off x="6829793" y="3901243"/>
            <a:ext cx="4167445" cy="1159674"/>
          </a:xfrm>
          <a:prstGeom prst="roundRect">
            <a:avLst/>
          </a:prstGeom>
        </p:spPr>
      </p:pic>
      <p:sp>
        <p:nvSpPr>
          <p:cNvPr id="17" name="TextBox 16">
            <a:extLst>
              <a:ext uri="{FF2B5EF4-FFF2-40B4-BE49-F238E27FC236}">
                <a16:creationId xmlns:a16="http://schemas.microsoft.com/office/drawing/2014/main" id="{F9AAD5D3-7FD9-DBFE-1E31-EF0E76536621}"/>
              </a:ext>
            </a:extLst>
          </p:cNvPr>
          <p:cNvSpPr txBox="1"/>
          <p:nvPr/>
        </p:nvSpPr>
        <p:spPr>
          <a:xfrm>
            <a:off x="7522393" y="5135862"/>
            <a:ext cx="2696957" cy="369332"/>
          </a:xfrm>
          <a:prstGeom prst="rect">
            <a:avLst/>
          </a:prstGeom>
          <a:noFill/>
        </p:spPr>
        <p:txBody>
          <a:bodyPr wrap="none" rtlCol="0">
            <a:spAutoFit/>
          </a:bodyPr>
          <a:lstStyle/>
          <a:p>
            <a:pPr marL="285750" indent="-285750">
              <a:buFont typeface="Wingdings" panose="05000000000000000000" pitchFamily="2" charset="2"/>
              <a:buChar char="q"/>
            </a:pPr>
            <a:r>
              <a:rPr lang="en-US" dirty="0">
                <a:solidFill>
                  <a:schemeClr val="bg1"/>
                </a:solidFill>
              </a:rPr>
              <a:t>Offline Viewing Option</a:t>
            </a:r>
          </a:p>
        </p:txBody>
      </p:sp>
      <p:sp>
        <p:nvSpPr>
          <p:cNvPr id="18" name="TextBox 17">
            <a:extLst>
              <a:ext uri="{FF2B5EF4-FFF2-40B4-BE49-F238E27FC236}">
                <a16:creationId xmlns:a16="http://schemas.microsoft.com/office/drawing/2014/main" id="{A4AF4EDA-91CB-3111-DB45-8C6D95AADA13}"/>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9" name="Shape 2">
            <a:extLst>
              <a:ext uri="{FF2B5EF4-FFF2-40B4-BE49-F238E27FC236}">
                <a16:creationId xmlns:a16="http://schemas.microsoft.com/office/drawing/2014/main" id="{C7F71A95-2370-700E-8115-8343D837B875}"/>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694374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DE523-CF36-E75D-FE2C-E3215EB8EEAC}"/>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F461B45E-0025-3000-2B6F-B45C69BB66C2}"/>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B2BFA675-84D0-3203-4EE9-0AE13ABA508B}"/>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84AE9D28-5185-8D24-BA3B-C3C73A59FF2A}"/>
              </a:ext>
            </a:extLst>
          </p:cNvPr>
          <p:cNvSpPr txBox="1"/>
          <p:nvPr/>
        </p:nvSpPr>
        <p:spPr>
          <a:xfrm>
            <a:off x="887862" y="1610584"/>
            <a:ext cx="4132093"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Contest Section: </a:t>
            </a:r>
          </a:p>
          <a:p>
            <a:pPr marL="914400" lvl="1" indent="-457200">
              <a:buFont typeface="Wingdings" panose="05000000000000000000" pitchFamily="2" charset="2"/>
              <a:buChar char="§"/>
            </a:pPr>
            <a:r>
              <a:rPr lang="en-US" sz="3000" dirty="0">
                <a:solidFill>
                  <a:schemeClr val="bg1"/>
                </a:solidFill>
              </a:rPr>
              <a:t>Upcoming Contests</a:t>
            </a:r>
          </a:p>
          <a:p>
            <a:pPr marL="914400" lvl="1" indent="-457200">
              <a:buFont typeface="Wingdings" panose="05000000000000000000" pitchFamily="2" charset="2"/>
              <a:buChar char="§"/>
            </a:pPr>
            <a:r>
              <a:rPr lang="en-US" sz="3000" dirty="0">
                <a:solidFill>
                  <a:schemeClr val="bg1"/>
                </a:solidFill>
              </a:rPr>
              <a:t>Running Contests</a:t>
            </a:r>
          </a:p>
          <a:p>
            <a:pPr marL="914400" lvl="1" indent="-457200">
              <a:buFont typeface="Wingdings" panose="05000000000000000000" pitchFamily="2" charset="2"/>
              <a:buChar char="§"/>
            </a:pPr>
            <a:r>
              <a:rPr lang="en-US" sz="3000" dirty="0">
                <a:solidFill>
                  <a:schemeClr val="bg1"/>
                </a:solidFill>
              </a:rPr>
              <a:t>Past Contests</a:t>
            </a:r>
          </a:p>
        </p:txBody>
      </p:sp>
      <p:pic>
        <p:nvPicPr>
          <p:cNvPr id="7" name="Picture 6">
            <a:extLst>
              <a:ext uri="{FF2B5EF4-FFF2-40B4-BE49-F238E27FC236}">
                <a16:creationId xmlns:a16="http://schemas.microsoft.com/office/drawing/2014/main" id="{9FA32AB8-B26E-678C-9711-8E54CAE1169F}"/>
              </a:ext>
            </a:extLst>
          </p:cNvPr>
          <p:cNvPicPr>
            <a:picLocks noChangeAspect="1"/>
          </p:cNvPicPr>
          <p:nvPr/>
        </p:nvPicPr>
        <p:blipFill>
          <a:blip r:embed="rId4"/>
          <a:stretch>
            <a:fillRect/>
          </a:stretch>
        </p:blipFill>
        <p:spPr>
          <a:xfrm>
            <a:off x="11099091" y="1070397"/>
            <a:ext cx="2950107" cy="6088806"/>
          </a:xfrm>
          <a:prstGeom prst="roundRect">
            <a:avLst/>
          </a:prstGeom>
        </p:spPr>
      </p:pic>
      <p:pic>
        <p:nvPicPr>
          <p:cNvPr id="14" name="Picture 13">
            <a:extLst>
              <a:ext uri="{FF2B5EF4-FFF2-40B4-BE49-F238E27FC236}">
                <a16:creationId xmlns:a16="http://schemas.microsoft.com/office/drawing/2014/main" id="{AD6EB140-50B7-9DE0-D6AB-EF93A6A7A9D6}"/>
              </a:ext>
            </a:extLst>
          </p:cNvPr>
          <p:cNvPicPr>
            <a:picLocks noChangeAspect="1"/>
          </p:cNvPicPr>
          <p:nvPr/>
        </p:nvPicPr>
        <p:blipFill>
          <a:blip r:embed="rId5"/>
          <a:srcRect l="4669"/>
          <a:stretch>
            <a:fillRect/>
          </a:stretch>
        </p:blipFill>
        <p:spPr>
          <a:xfrm>
            <a:off x="7176624" y="2581274"/>
            <a:ext cx="3120118" cy="3215393"/>
          </a:xfrm>
          <a:prstGeom prst="roundRect">
            <a:avLst/>
          </a:prstGeom>
        </p:spPr>
      </p:pic>
      <p:sp>
        <p:nvSpPr>
          <p:cNvPr id="15" name="TextBox 14">
            <a:extLst>
              <a:ext uri="{FF2B5EF4-FFF2-40B4-BE49-F238E27FC236}">
                <a16:creationId xmlns:a16="http://schemas.microsoft.com/office/drawing/2014/main" id="{3C9A175A-B543-CDE4-35C0-6A0618AD2119}"/>
              </a:ext>
            </a:extLst>
          </p:cNvPr>
          <p:cNvSpPr txBox="1"/>
          <p:nvPr/>
        </p:nvSpPr>
        <p:spPr>
          <a:xfrm>
            <a:off x="6704981" y="5873931"/>
            <a:ext cx="4120743" cy="369332"/>
          </a:xfrm>
          <a:prstGeom prst="rect">
            <a:avLst/>
          </a:prstGeom>
          <a:noFill/>
        </p:spPr>
        <p:txBody>
          <a:bodyPr wrap="none" rtlCol="0">
            <a:spAutoFit/>
          </a:bodyPr>
          <a:lstStyle/>
          <a:p>
            <a:pPr marL="285750" indent="-285750">
              <a:buFont typeface="Wingdings" panose="05000000000000000000" pitchFamily="2" charset="2"/>
              <a:buChar char="q"/>
            </a:pPr>
            <a:r>
              <a:rPr lang="en-US" dirty="0">
                <a:solidFill>
                  <a:schemeClr val="bg1"/>
                </a:solidFill>
              </a:rPr>
              <a:t>Can import targets direct from contest </a:t>
            </a:r>
          </a:p>
        </p:txBody>
      </p:sp>
      <p:sp>
        <p:nvSpPr>
          <p:cNvPr id="16" name="TextBox 15">
            <a:extLst>
              <a:ext uri="{FF2B5EF4-FFF2-40B4-BE49-F238E27FC236}">
                <a16:creationId xmlns:a16="http://schemas.microsoft.com/office/drawing/2014/main" id="{D86C8F0B-8A23-E658-EF96-C0E448DF2EB1}"/>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9" name="Shape 2">
            <a:extLst>
              <a:ext uri="{FF2B5EF4-FFF2-40B4-BE49-F238E27FC236}">
                <a16:creationId xmlns:a16="http://schemas.microsoft.com/office/drawing/2014/main" id="{638850FD-E2E8-D6E4-D223-E1FF2AF7CEE2}"/>
              </a:ext>
            </a:extLst>
          </p:cNvPr>
          <p:cNvSpPr/>
          <p:nvPr/>
        </p:nvSpPr>
        <p:spPr>
          <a:xfrm>
            <a:off x="4692725" y="9228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266751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9657-511D-A80A-0021-53A5C999F162}"/>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C27D6A8E-29C6-AEF4-CEFD-F2A3EF41A967}"/>
              </a:ext>
            </a:extLst>
          </p:cNvPr>
          <p:cNvPicPr>
            <a:picLocks noChangeAspect="1"/>
          </p:cNvPicPr>
          <p:nvPr/>
        </p:nvPicPr>
        <p:blipFill>
          <a:blip r:embed="rId3"/>
          <a:stretch>
            <a:fillRect/>
          </a:stretch>
        </p:blipFill>
        <p:spPr>
          <a:xfrm>
            <a:off x="0" y="-1026526"/>
            <a:ext cx="15011400" cy="9492432"/>
          </a:xfrm>
          <a:prstGeom prst="rect">
            <a:avLst/>
          </a:prstGeom>
        </p:spPr>
      </p:pic>
      <p:sp>
        <p:nvSpPr>
          <p:cNvPr id="4" name="Text 1">
            <a:extLst>
              <a:ext uri="{FF2B5EF4-FFF2-40B4-BE49-F238E27FC236}">
                <a16:creationId xmlns:a16="http://schemas.microsoft.com/office/drawing/2014/main" id="{A5B2B9C3-329E-47DB-081F-9B93AC90115C}"/>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404C5548-2113-F780-FC58-BC142059C683}"/>
              </a:ext>
            </a:extLst>
          </p:cNvPr>
          <p:cNvSpPr txBox="1"/>
          <p:nvPr/>
        </p:nvSpPr>
        <p:spPr>
          <a:xfrm>
            <a:off x="1545087" y="1956283"/>
            <a:ext cx="3217547"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Friends Section: </a:t>
            </a:r>
          </a:p>
          <a:p>
            <a:pPr marL="914400" lvl="1" indent="-457200">
              <a:buFont typeface="Wingdings" panose="05000000000000000000" pitchFamily="2" charset="2"/>
              <a:buChar char="§"/>
            </a:pPr>
            <a:r>
              <a:rPr lang="en-US" sz="3000" dirty="0">
                <a:solidFill>
                  <a:schemeClr val="bg1"/>
                </a:solidFill>
              </a:rPr>
              <a:t>Add Friends</a:t>
            </a:r>
          </a:p>
          <a:p>
            <a:pPr marL="914400" lvl="1" indent="-457200">
              <a:buFont typeface="Wingdings" panose="05000000000000000000" pitchFamily="2" charset="2"/>
              <a:buChar char="§"/>
            </a:pPr>
            <a:r>
              <a:rPr lang="en-US" sz="3000" dirty="0">
                <a:solidFill>
                  <a:schemeClr val="bg1"/>
                </a:solidFill>
              </a:rPr>
              <a:t>View Friends </a:t>
            </a:r>
          </a:p>
          <a:p>
            <a:pPr lvl="1"/>
            <a:r>
              <a:rPr lang="en-US" sz="3000" dirty="0">
                <a:solidFill>
                  <a:schemeClr val="bg1"/>
                </a:solidFill>
              </a:rPr>
              <a:t>	- </a:t>
            </a:r>
            <a:r>
              <a:rPr lang="en-US" sz="3000" dirty="0" err="1">
                <a:solidFill>
                  <a:schemeClr val="bg1"/>
                </a:solidFill>
              </a:rPr>
              <a:t>icpX</a:t>
            </a:r>
            <a:r>
              <a:rPr lang="en-US" sz="3000" dirty="0">
                <a:solidFill>
                  <a:schemeClr val="bg1"/>
                </a:solidFill>
              </a:rPr>
              <a:t> Ratings</a:t>
            </a:r>
          </a:p>
        </p:txBody>
      </p:sp>
      <p:pic>
        <p:nvPicPr>
          <p:cNvPr id="7" name="Picture 6">
            <a:extLst>
              <a:ext uri="{FF2B5EF4-FFF2-40B4-BE49-F238E27FC236}">
                <a16:creationId xmlns:a16="http://schemas.microsoft.com/office/drawing/2014/main" id="{16174778-5E5B-4B57-E050-1CE43362AB3C}"/>
              </a:ext>
            </a:extLst>
          </p:cNvPr>
          <p:cNvPicPr>
            <a:picLocks noChangeAspect="1"/>
          </p:cNvPicPr>
          <p:nvPr/>
        </p:nvPicPr>
        <p:blipFill>
          <a:blip r:embed="rId4"/>
          <a:stretch>
            <a:fillRect/>
          </a:stretch>
        </p:blipFill>
        <p:spPr>
          <a:xfrm>
            <a:off x="11522291" y="1152525"/>
            <a:ext cx="2952980" cy="6101030"/>
          </a:xfrm>
          <a:prstGeom prst="roundRect">
            <a:avLst/>
          </a:prstGeom>
        </p:spPr>
      </p:pic>
      <p:pic>
        <p:nvPicPr>
          <p:cNvPr id="10" name="Picture 9">
            <a:extLst>
              <a:ext uri="{FF2B5EF4-FFF2-40B4-BE49-F238E27FC236}">
                <a16:creationId xmlns:a16="http://schemas.microsoft.com/office/drawing/2014/main" id="{D3D1CBD4-C72F-6087-89BD-C1E60271E370}"/>
              </a:ext>
            </a:extLst>
          </p:cNvPr>
          <p:cNvPicPr>
            <a:picLocks noChangeAspect="1"/>
          </p:cNvPicPr>
          <p:nvPr/>
        </p:nvPicPr>
        <p:blipFill>
          <a:blip r:embed="rId5"/>
          <a:stretch>
            <a:fillRect/>
          </a:stretch>
        </p:blipFill>
        <p:spPr>
          <a:xfrm>
            <a:off x="7686948" y="1989832"/>
            <a:ext cx="3371437" cy="1971973"/>
          </a:xfrm>
          <a:prstGeom prst="roundRect">
            <a:avLst/>
          </a:prstGeom>
        </p:spPr>
      </p:pic>
      <p:sp>
        <p:nvSpPr>
          <p:cNvPr id="11" name="TextBox 10">
            <a:extLst>
              <a:ext uri="{FF2B5EF4-FFF2-40B4-BE49-F238E27FC236}">
                <a16:creationId xmlns:a16="http://schemas.microsoft.com/office/drawing/2014/main" id="{B4B6DC3A-0569-2F51-071E-55B919AC624C}"/>
              </a:ext>
            </a:extLst>
          </p:cNvPr>
          <p:cNvSpPr txBox="1"/>
          <p:nvPr/>
        </p:nvSpPr>
        <p:spPr>
          <a:xfrm>
            <a:off x="8432263" y="4018374"/>
            <a:ext cx="1934569" cy="369332"/>
          </a:xfrm>
          <a:prstGeom prst="rect">
            <a:avLst/>
          </a:prstGeom>
          <a:noFill/>
        </p:spPr>
        <p:txBody>
          <a:bodyPr wrap="none" rtlCol="0">
            <a:spAutoFit/>
          </a:bodyPr>
          <a:lstStyle/>
          <a:p>
            <a:pPr marL="285750" indent="-285750">
              <a:buFont typeface="Wingdings" panose="05000000000000000000" pitchFamily="2" charset="2"/>
              <a:buChar char="q"/>
            </a:pPr>
            <a:r>
              <a:rPr lang="en-US" dirty="0">
                <a:solidFill>
                  <a:schemeClr val="bg1"/>
                </a:solidFill>
              </a:rPr>
              <a:t>Friends Ratting </a:t>
            </a:r>
          </a:p>
        </p:txBody>
      </p:sp>
      <p:sp>
        <p:nvSpPr>
          <p:cNvPr id="12" name="TextBox 11">
            <a:extLst>
              <a:ext uri="{FF2B5EF4-FFF2-40B4-BE49-F238E27FC236}">
                <a16:creationId xmlns:a16="http://schemas.microsoft.com/office/drawing/2014/main" id="{F4ED2F87-E999-86DC-B1EA-9A213B6F2E9C}"/>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3" name="Shape 2">
            <a:extLst>
              <a:ext uri="{FF2B5EF4-FFF2-40B4-BE49-F238E27FC236}">
                <a16:creationId xmlns:a16="http://schemas.microsoft.com/office/drawing/2014/main" id="{81AFA363-F9BF-E181-C66D-D1CD12B38D62}"/>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3451401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4CD88-2D65-2109-1BD4-900E0ED7A06A}"/>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35EACB49-87E8-2819-F78B-45D70753230B}"/>
              </a:ext>
            </a:extLst>
          </p:cNvPr>
          <p:cNvPicPr>
            <a:picLocks noChangeAspect="1"/>
          </p:cNvPicPr>
          <p:nvPr/>
        </p:nvPicPr>
        <p:blipFill>
          <a:blip r:embed="rId3"/>
          <a:stretch>
            <a:fillRect/>
          </a:stretch>
        </p:blipFill>
        <p:spPr>
          <a:xfrm>
            <a:off x="-97971" y="-827843"/>
            <a:ext cx="15011400" cy="9283474"/>
          </a:xfrm>
          <a:prstGeom prst="rect">
            <a:avLst/>
          </a:prstGeom>
        </p:spPr>
      </p:pic>
      <p:sp>
        <p:nvSpPr>
          <p:cNvPr id="4" name="Text 1">
            <a:extLst>
              <a:ext uri="{FF2B5EF4-FFF2-40B4-BE49-F238E27FC236}">
                <a16:creationId xmlns:a16="http://schemas.microsoft.com/office/drawing/2014/main" id="{592D4C12-0F9D-936F-2529-01219E52BC67}"/>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8" name="TextBox 7">
            <a:extLst>
              <a:ext uri="{FF2B5EF4-FFF2-40B4-BE49-F238E27FC236}">
                <a16:creationId xmlns:a16="http://schemas.microsoft.com/office/drawing/2014/main" id="{3EF558B3-3923-75CF-EE32-F40EDB8EB86E}"/>
              </a:ext>
            </a:extLst>
          </p:cNvPr>
          <p:cNvSpPr txBox="1"/>
          <p:nvPr/>
        </p:nvSpPr>
        <p:spPr>
          <a:xfrm>
            <a:off x="961143" y="1564628"/>
            <a:ext cx="4655955" cy="1938992"/>
          </a:xfrm>
          <a:prstGeom prst="rect">
            <a:avLst/>
          </a:prstGeom>
          <a:noFill/>
        </p:spPr>
        <p:txBody>
          <a:bodyPr wrap="none" rtlCol="0">
            <a:spAutoFit/>
          </a:bodyPr>
          <a:lstStyle/>
          <a:p>
            <a:pPr marL="457200" indent="-457200">
              <a:buFont typeface="Wingdings" panose="05000000000000000000" pitchFamily="2" charset="2"/>
              <a:buChar char="v"/>
            </a:pPr>
            <a:r>
              <a:rPr lang="en-US" sz="3000" dirty="0">
                <a:solidFill>
                  <a:schemeClr val="bg1"/>
                </a:solidFill>
              </a:rPr>
              <a:t>Settings : </a:t>
            </a:r>
          </a:p>
          <a:p>
            <a:pPr marL="914400" lvl="1" indent="-457200">
              <a:buFont typeface="Wingdings" panose="05000000000000000000" pitchFamily="2" charset="2"/>
              <a:buChar char="§"/>
            </a:pPr>
            <a:r>
              <a:rPr lang="en-US" sz="3000" dirty="0">
                <a:solidFill>
                  <a:schemeClr val="bg1"/>
                </a:solidFill>
              </a:rPr>
              <a:t>Add CF Handle</a:t>
            </a:r>
          </a:p>
          <a:p>
            <a:pPr marL="914400" lvl="1" indent="-457200">
              <a:buFont typeface="Wingdings" panose="05000000000000000000" pitchFamily="2" charset="2"/>
              <a:buChar char="§"/>
            </a:pPr>
            <a:r>
              <a:rPr lang="en-US" sz="3000" dirty="0">
                <a:solidFill>
                  <a:schemeClr val="bg1"/>
                </a:solidFill>
              </a:rPr>
              <a:t> Contest Reminder E/D</a:t>
            </a:r>
          </a:p>
          <a:p>
            <a:pPr marL="914400" lvl="1" indent="-457200">
              <a:buFont typeface="Wingdings" panose="05000000000000000000" pitchFamily="2" charset="2"/>
              <a:buChar char="§"/>
            </a:pPr>
            <a:r>
              <a:rPr lang="en-US" sz="3000" dirty="0">
                <a:solidFill>
                  <a:schemeClr val="bg1"/>
                </a:solidFill>
              </a:rPr>
              <a:t>Sync from database</a:t>
            </a:r>
          </a:p>
        </p:txBody>
      </p:sp>
      <p:pic>
        <p:nvPicPr>
          <p:cNvPr id="7" name="Picture 6">
            <a:extLst>
              <a:ext uri="{FF2B5EF4-FFF2-40B4-BE49-F238E27FC236}">
                <a16:creationId xmlns:a16="http://schemas.microsoft.com/office/drawing/2014/main" id="{5D562A1A-91BC-2AA9-2472-A6F52BF91B89}"/>
              </a:ext>
            </a:extLst>
          </p:cNvPr>
          <p:cNvPicPr>
            <a:picLocks noChangeAspect="1"/>
          </p:cNvPicPr>
          <p:nvPr/>
        </p:nvPicPr>
        <p:blipFill>
          <a:blip r:embed="rId4"/>
          <a:stretch>
            <a:fillRect/>
          </a:stretch>
        </p:blipFill>
        <p:spPr>
          <a:xfrm>
            <a:off x="11763358" y="1039438"/>
            <a:ext cx="3001994" cy="5989798"/>
          </a:xfrm>
          <a:prstGeom prst="roundRect">
            <a:avLst/>
          </a:prstGeom>
        </p:spPr>
      </p:pic>
      <p:pic>
        <p:nvPicPr>
          <p:cNvPr id="10" name="Picture 9">
            <a:extLst>
              <a:ext uri="{FF2B5EF4-FFF2-40B4-BE49-F238E27FC236}">
                <a16:creationId xmlns:a16="http://schemas.microsoft.com/office/drawing/2014/main" id="{6912B54C-A048-9801-7E9E-30F25B02D11C}"/>
              </a:ext>
            </a:extLst>
          </p:cNvPr>
          <p:cNvPicPr>
            <a:picLocks noChangeAspect="1"/>
          </p:cNvPicPr>
          <p:nvPr/>
        </p:nvPicPr>
        <p:blipFill>
          <a:blip r:embed="rId5"/>
          <a:stretch>
            <a:fillRect/>
          </a:stretch>
        </p:blipFill>
        <p:spPr>
          <a:xfrm>
            <a:off x="8585489" y="2849876"/>
            <a:ext cx="2755790" cy="4043543"/>
          </a:xfrm>
          <a:prstGeom prst="roundRect">
            <a:avLst/>
          </a:prstGeom>
        </p:spPr>
      </p:pic>
      <p:sp>
        <p:nvSpPr>
          <p:cNvPr id="11" name="TextBox 10">
            <a:extLst>
              <a:ext uri="{FF2B5EF4-FFF2-40B4-BE49-F238E27FC236}">
                <a16:creationId xmlns:a16="http://schemas.microsoft.com/office/drawing/2014/main" id="{10A024CA-88D5-1064-4907-6EE4BA7BB5E2}"/>
              </a:ext>
            </a:extLst>
          </p:cNvPr>
          <p:cNvSpPr txBox="1"/>
          <p:nvPr/>
        </p:nvSpPr>
        <p:spPr>
          <a:xfrm>
            <a:off x="5519960" y="15413"/>
            <a:ext cx="2183290" cy="830997"/>
          </a:xfrm>
          <a:prstGeom prst="rect">
            <a:avLst/>
          </a:prstGeom>
          <a:noFill/>
        </p:spPr>
        <p:txBody>
          <a:bodyPr wrap="none" rtlCol="0">
            <a:spAutoFit/>
          </a:bodyPr>
          <a:lstStyle/>
          <a:p>
            <a:r>
              <a:rPr lang="en-US" sz="4800" dirty="0">
                <a:solidFill>
                  <a:schemeClr val="bg1"/>
                </a:solidFill>
              </a:rPr>
              <a:t>Android</a:t>
            </a:r>
          </a:p>
        </p:txBody>
      </p:sp>
      <p:sp>
        <p:nvSpPr>
          <p:cNvPr id="12" name="Shape 2">
            <a:extLst>
              <a:ext uri="{FF2B5EF4-FFF2-40B4-BE49-F238E27FC236}">
                <a16:creationId xmlns:a16="http://schemas.microsoft.com/office/drawing/2014/main" id="{85C10DF1-81E1-3F47-543B-C73DF2538E05}"/>
              </a:ext>
            </a:extLst>
          </p:cNvPr>
          <p:cNvSpPr/>
          <p:nvPr/>
        </p:nvSpPr>
        <p:spPr>
          <a:xfrm>
            <a:off x="4540325" y="770446"/>
            <a:ext cx="4196358" cy="121920"/>
          </a:xfrm>
          <a:prstGeom prst="roundRect">
            <a:avLst>
              <a:gd name="adj" fmla="val 78139"/>
            </a:avLst>
          </a:prstGeom>
          <a:solidFill>
            <a:srgbClr val="4950BC"/>
          </a:solidFill>
          <a:ln/>
        </p:spPr>
        <p:txBody>
          <a:bodyPr/>
          <a:lstStyle/>
          <a:p>
            <a:endParaRPr lang="en-US" dirty="0"/>
          </a:p>
        </p:txBody>
      </p:sp>
    </p:spTree>
    <p:extLst>
      <p:ext uri="{BB962C8B-B14F-4D97-AF65-F5344CB8AC3E}">
        <p14:creationId xmlns:p14="http://schemas.microsoft.com/office/powerpoint/2010/main" val="1499331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6E5F4-7F27-42B7-1D55-C4FD68AF414A}"/>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69AA6CFF-B5EB-9574-BD32-68078821F889}"/>
              </a:ext>
            </a:extLst>
          </p:cNvPr>
          <p:cNvPicPr>
            <a:picLocks noChangeAspect="1"/>
          </p:cNvPicPr>
          <p:nvPr/>
        </p:nvPicPr>
        <p:blipFill>
          <a:blip r:embed="rId3"/>
          <a:stretch>
            <a:fillRect/>
          </a:stretch>
        </p:blipFill>
        <p:spPr>
          <a:xfrm>
            <a:off x="-97971" y="-827843"/>
            <a:ext cx="15011400" cy="9057443"/>
          </a:xfrm>
          <a:prstGeom prst="rect">
            <a:avLst/>
          </a:prstGeom>
        </p:spPr>
      </p:pic>
      <p:sp>
        <p:nvSpPr>
          <p:cNvPr id="4" name="Text 1">
            <a:extLst>
              <a:ext uri="{FF2B5EF4-FFF2-40B4-BE49-F238E27FC236}">
                <a16:creationId xmlns:a16="http://schemas.microsoft.com/office/drawing/2014/main" id="{383CEF21-4DC6-C514-1ED0-7FDEF3C9DB6A}"/>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pic>
        <p:nvPicPr>
          <p:cNvPr id="9" name="Picture 8">
            <a:extLst>
              <a:ext uri="{FF2B5EF4-FFF2-40B4-BE49-F238E27FC236}">
                <a16:creationId xmlns:a16="http://schemas.microsoft.com/office/drawing/2014/main" id="{A24E4CA4-1E0C-F81E-8945-6EF4D498C836}"/>
              </a:ext>
            </a:extLst>
          </p:cNvPr>
          <p:cNvPicPr>
            <a:picLocks noChangeAspect="1"/>
          </p:cNvPicPr>
          <p:nvPr/>
        </p:nvPicPr>
        <p:blipFill>
          <a:blip r:embed="rId4"/>
          <a:stretch>
            <a:fillRect/>
          </a:stretch>
        </p:blipFill>
        <p:spPr>
          <a:xfrm>
            <a:off x="2176378" y="1509080"/>
            <a:ext cx="9640645" cy="5792008"/>
          </a:xfrm>
          <a:prstGeom prst="rect">
            <a:avLst/>
          </a:prstGeom>
        </p:spPr>
      </p:pic>
      <p:sp>
        <p:nvSpPr>
          <p:cNvPr id="11" name="TextBox 10">
            <a:extLst>
              <a:ext uri="{FF2B5EF4-FFF2-40B4-BE49-F238E27FC236}">
                <a16:creationId xmlns:a16="http://schemas.microsoft.com/office/drawing/2014/main" id="{CBA85C98-1EE0-B956-E91A-C6796860A26E}"/>
              </a:ext>
            </a:extLst>
          </p:cNvPr>
          <p:cNvSpPr txBox="1"/>
          <p:nvPr/>
        </p:nvSpPr>
        <p:spPr>
          <a:xfrm>
            <a:off x="4667267" y="663448"/>
            <a:ext cx="4914102" cy="830997"/>
          </a:xfrm>
          <a:prstGeom prst="rect">
            <a:avLst/>
          </a:prstGeom>
          <a:noFill/>
        </p:spPr>
        <p:txBody>
          <a:bodyPr wrap="none" rtlCol="0">
            <a:spAutoFit/>
          </a:bodyPr>
          <a:lstStyle/>
          <a:p>
            <a:r>
              <a:rPr lang="en-US" sz="4800" dirty="0">
                <a:solidFill>
                  <a:schemeClr val="bg1"/>
                </a:solidFill>
              </a:rPr>
              <a:t>GitHub Repository </a:t>
            </a:r>
          </a:p>
        </p:txBody>
      </p:sp>
      <p:sp>
        <p:nvSpPr>
          <p:cNvPr id="12" name="TextBox 11">
            <a:extLst>
              <a:ext uri="{FF2B5EF4-FFF2-40B4-BE49-F238E27FC236}">
                <a16:creationId xmlns:a16="http://schemas.microsoft.com/office/drawing/2014/main" id="{3272ED6F-C1D0-11DC-F299-0F00A55713AE}"/>
              </a:ext>
            </a:extLst>
          </p:cNvPr>
          <p:cNvSpPr txBox="1"/>
          <p:nvPr/>
        </p:nvSpPr>
        <p:spPr>
          <a:xfrm>
            <a:off x="2176378" y="7301088"/>
            <a:ext cx="4289587" cy="369332"/>
          </a:xfrm>
          <a:prstGeom prst="rect">
            <a:avLst/>
          </a:prstGeom>
          <a:noFill/>
        </p:spPr>
        <p:txBody>
          <a:bodyPr wrap="square" rtlCol="0">
            <a:spAutoFit/>
          </a:bodyPr>
          <a:lstStyle/>
          <a:p>
            <a:r>
              <a:rPr lang="en-US" dirty="0">
                <a:solidFill>
                  <a:schemeClr val="bg1"/>
                </a:solidFill>
              </a:rPr>
              <a:t>Link : </a:t>
            </a:r>
            <a:r>
              <a:rPr lang="en-US" dirty="0">
                <a:solidFill>
                  <a:schemeClr val="bg1"/>
                </a:solidFill>
                <a:hlinkClick r:id="rId5"/>
              </a:rPr>
              <a:t>https://github.com/tahmids55/icpX</a:t>
            </a:r>
            <a:endParaRPr lang="en-US" dirty="0">
              <a:solidFill>
                <a:schemeClr val="bg1"/>
              </a:solidFill>
            </a:endParaRPr>
          </a:p>
        </p:txBody>
      </p:sp>
    </p:spTree>
    <p:extLst>
      <p:ext uri="{BB962C8B-B14F-4D97-AF65-F5344CB8AC3E}">
        <p14:creationId xmlns:p14="http://schemas.microsoft.com/office/powerpoint/2010/main" val="1526404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4285F-8977-7955-107E-10BA66D39208}"/>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1FD6B7A3-0AF5-56D5-1EC1-F40DADB9B1BC}"/>
              </a:ext>
            </a:extLst>
          </p:cNvPr>
          <p:cNvPicPr>
            <a:picLocks noChangeAspect="1"/>
          </p:cNvPicPr>
          <p:nvPr/>
        </p:nvPicPr>
        <p:blipFill>
          <a:blip r:embed="rId3"/>
          <a:stretch>
            <a:fillRect/>
          </a:stretch>
        </p:blipFill>
        <p:spPr>
          <a:xfrm>
            <a:off x="-97971" y="-819396"/>
            <a:ext cx="15011400" cy="9057443"/>
          </a:xfrm>
          <a:prstGeom prst="rect">
            <a:avLst/>
          </a:prstGeom>
        </p:spPr>
      </p:pic>
      <p:sp>
        <p:nvSpPr>
          <p:cNvPr id="4" name="Text 1">
            <a:extLst>
              <a:ext uri="{FF2B5EF4-FFF2-40B4-BE49-F238E27FC236}">
                <a16:creationId xmlns:a16="http://schemas.microsoft.com/office/drawing/2014/main" id="{4F1256DA-A021-0466-A593-B99395DB7C62}"/>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11" name="TextBox 10">
            <a:extLst>
              <a:ext uri="{FF2B5EF4-FFF2-40B4-BE49-F238E27FC236}">
                <a16:creationId xmlns:a16="http://schemas.microsoft.com/office/drawing/2014/main" id="{FAE604DB-8BE5-D691-ED09-BF5214355893}"/>
              </a:ext>
            </a:extLst>
          </p:cNvPr>
          <p:cNvSpPr txBox="1"/>
          <p:nvPr/>
        </p:nvSpPr>
        <p:spPr>
          <a:xfrm>
            <a:off x="4752992" y="671050"/>
            <a:ext cx="4113498" cy="830997"/>
          </a:xfrm>
          <a:prstGeom prst="rect">
            <a:avLst/>
          </a:prstGeom>
          <a:noFill/>
        </p:spPr>
        <p:txBody>
          <a:bodyPr wrap="none" rtlCol="0">
            <a:spAutoFit/>
          </a:bodyPr>
          <a:lstStyle/>
          <a:p>
            <a:r>
              <a:rPr lang="en-US" sz="4800" dirty="0">
                <a:solidFill>
                  <a:schemeClr val="bg1"/>
                </a:solidFill>
              </a:rPr>
              <a:t>Download Links</a:t>
            </a:r>
          </a:p>
        </p:txBody>
      </p:sp>
      <p:sp>
        <p:nvSpPr>
          <p:cNvPr id="2" name="TextBox 1">
            <a:extLst>
              <a:ext uri="{FF2B5EF4-FFF2-40B4-BE49-F238E27FC236}">
                <a16:creationId xmlns:a16="http://schemas.microsoft.com/office/drawing/2014/main" id="{1C83DDC8-109B-820C-586B-A7721FF6FF42}"/>
              </a:ext>
            </a:extLst>
          </p:cNvPr>
          <p:cNvSpPr txBox="1"/>
          <p:nvPr/>
        </p:nvSpPr>
        <p:spPr>
          <a:xfrm>
            <a:off x="2656232" y="1766580"/>
            <a:ext cx="4193520" cy="707886"/>
          </a:xfrm>
          <a:prstGeom prst="rect">
            <a:avLst/>
          </a:prstGeom>
          <a:noFill/>
        </p:spPr>
        <p:txBody>
          <a:bodyPr wrap="none" rtlCol="0">
            <a:spAutoFit/>
          </a:bodyPr>
          <a:lstStyle/>
          <a:p>
            <a:r>
              <a:rPr lang="en-US" sz="4000" dirty="0">
                <a:solidFill>
                  <a:schemeClr val="bg1"/>
                </a:solidFill>
              </a:rPr>
              <a:t>Android   : </a:t>
            </a:r>
            <a:r>
              <a:rPr lang="en-US" sz="4000" dirty="0" err="1">
                <a:solidFill>
                  <a:schemeClr val="bg1"/>
                </a:solidFill>
                <a:hlinkClick r:id="rId4"/>
              </a:rPr>
              <a:t>icpX.apk</a:t>
            </a:r>
            <a:endParaRPr lang="en-US" sz="4000" dirty="0">
              <a:solidFill>
                <a:schemeClr val="bg1"/>
              </a:solidFill>
            </a:endParaRPr>
          </a:p>
        </p:txBody>
      </p:sp>
      <p:sp>
        <p:nvSpPr>
          <p:cNvPr id="3" name="TextBox 2">
            <a:extLst>
              <a:ext uri="{FF2B5EF4-FFF2-40B4-BE49-F238E27FC236}">
                <a16:creationId xmlns:a16="http://schemas.microsoft.com/office/drawing/2014/main" id="{579C276F-B0B5-D097-2147-F51DDD615280}"/>
              </a:ext>
            </a:extLst>
          </p:cNvPr>
          <p:cNvSpPr txBox="1"/>
          <p:nvPr/>
        </p:nvSpPr>
        <p:spPr>
          <a:xfrm>
            <a:off x="2649147" y="2464379"/>
            <a:ext cx="4207690" cy="707886"/>
          </a:xfrm>
          <a:prstGeom prst="rect">
            <a:avLst/>
          </a:prstGeom>
          <a:noFill/>
        </p:spPr>
        <p:txBody>
          <a:bodyPr wrap="none" rtlCol="0">
            <a:spAutoFit/>
          </a:bodyPr>
          <a:lstStyle/>
          <a:p>
            <a:r>
              <a:rPr lang="en-US" sz="4000" dirty="0">
                <a:solidFill>
                  <a:schemeClr val="bg1"/>
                </a:solidFill>
              </a:rPr>
              <a:t>Windows : </a:t>
            </a:r>
            <a:r>
              <a:rPr lang="en-US" sz="4000" dirty="0">
                <a:solidFill>
                  <a:schemeClr val="bg1"/>
                </a:solidFill>
                <a:hlinkClick r:id="rId5"/>
              </a:rPr>
              <a:t>icpX.exe</a:t>
            </a:r>
            <a:endParaRPr lang="en-US" sz="4000" dirty="0">
              <a:solidFill>
                <a:schemeClr val="bg1"/>
              </a:solidFill>
            </a:endParaRPr>
          </a:p>
        </p:txBody>
      </p:sp>
    </p:spTree>
    <p:extLst>
      <p:ext uri="{BB962C8B-B14F-4D97-AF65-F5344CB8AC3E}">
        <p14:creationId xmlns:p14="http://schemas.microsoft.com/office/powerpoint/2010/main" val="270399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9611F-DD5C-45BB-D7D0-00E4C901F677}"/>
            </a:ext>
          </a:extLst>
        </p:cNvPr>
        <p:cNvGrpSpPr/>
        <p:nvPr/>
      </p:nvGrpSpPr>
      <p:grpSpPr>
        <a:xfrm>
          <a:off x="0" y="0"/>
          <a:ext cx="0" cy="0"/>
          <a:chOff x="0" y="0"/>
          <a:chExt cx="0" cy="0"/>
        </a:xfrm>
      </p:grpSpPr>
      <p:pic>
        <p:nvPicPr>
          <p:cNvPr id="6" name="Picture 5" descr="A dark blue background with black lines&#10;&#10;AI-generated content may be incorrect.">
            <a:extLst>
              <a:ext uri="{FF2B5EF4-FFF2-40B4-BE49-F238E27FC236}">
                <a16:creationId xmlns:a16="http://schemas.microsoft.com/office/drawing/2014/main" id="{11460E2C-F0B7-9C2D-3E26-72A37954791C}"/>
              </a:ext>
            </a:extLst>
          </p:cNvPr>
          <p:cNvPicPr>
            <a:picLocks noChangeAspect="1"/>
          </p:cNvPicPr>
          <p:nvPr/>
        </p:nvPicPr>
        <p:blipFill>
          <a:blip r:embed="rId3"/>
          <a:stretch>
            <a:fillRect/>
          </a:stretch>
        </p:blipFill>
        <p:spPr>
          <a:xfrm>
            <a:off x="-97971" y="-961407"/>
            <a:ext cx="15011400" cy="9057443"/>
          </a:xfrm>
          <a:prstGeom prst="rect">
            <a:avLst/>
          </a:prstGeom>
        </p:spPr>
      </p:pic>
      <p:sp>
        <p:nvSpPr>
          <p:cNvPr id="4" name="Text 1">
            <a:extLst>
              <a:ext uri="{FF2B5EF4-FFF2-40B4-BE49-F238E27FC236}">
                <a16:creationId xmlns:a16="http://schemas.microsoft.com/office/drawing/2014/main" id="{98903E20-8E9C-441B-5CC8-2190A869826F}"/>
              </a:ext>
            </a:extLst>
          </p:cNvPr>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endParaRPr lang="en-US" sz="1750" dirty="0">
              <a:solidFill>
                <a:schemeClr val="bg1"/>
              </a:solidFill>
            </a:endParaRPr>
          </a:p>
        </p:txBody>
      </p:sp>
      <p:sp>
        <p:nvSpPr>
          <p:cNvPr id="5" name="TextBox 4">
            <a:extLst>
              <a:ext uri="{FF2B5EF4-FFF2-40B4-BE49-F238E27FC236}">
                <a16:creationId xmlns:a16="http://schemas.microsoft.com/office/drawing/2014/main" id="{A1CC7C7B-0282-8EF8-0555-190FBA16DD21}"/>
              </a:ext>
            </a:extLst>
          </p:cNvPr>
          <p:cNvSpPr txBox="1"/>
          <p:nvPr/>
        </p:nvSpPr>
        <p:spPr>
          <a:xfrm>
            <a:off x="5787924" y="2946142"/>
            <a:ext cx="3655681" cy="1015663"/>
          </a:xfrm>
          <a:prstGeom prst="rect">
            <a:avLst/>
          </a:prstGeom>
          <a:noFill/>
        </p:spPr>
        <p:txBody>
          <a:bodyPr wrap="none" rtlCol="0">
            <a:spAutoFit/>
          </a:bodyPr>
          <a:lstStyle/>
          <a:p>
            <a:r>
              <a:rPr lang="en-US" sz="6000" b="1" dirty="0">
                <a:solidFill>
                  <a:schemeClr val="bg1"/>
                </a:solidFill>
              </a:rPr>
              <a:t>Thank You </a:t>
            </a:r>
          </a:p>
        </p:txBody>
      </p:sp>
    </p:spTree>
    <p:extLst>
      <p:ext uri="{BB962C8B-B14F-4D97-AF65-F5344CB8AC3E}">
        <p14:creationId xmlns:p14="http://schemas.microsoft.com/office/powerpoint/2010/main" val="17235783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821</Words>
  <Application>Microsoft Office PowerPoint</Application>
  <PresentationFormat>Custom</PresentationFormat>
  <Paragraphs>177</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Wingdings</vt:lpstr>
      <vt:lpstr>Inter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Md Taki Tahmid Saad</cp:lastModifiedBy>
  <cp:revision>30</cp:revision>
  <dcterms:created xsi:type="dcterms:W3CDTF">2026-01-13T12:16:07Z</dcterms:created>
  <dcterms:modified xsi:type="dcterms:W3CDTF">2026-01-13T11:57:22Z</dcterms:modified>
</cp:coreProperties>
</file>