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14.xml" ContentType="application/vnd.openxmlformats-officedocument.presentationml.notesSlide+xml"/>
  <Override PartName="/ppt/notesSlides/notesSlide12.xml" ContentType="application/vnd.openxmlformats-officedocument.presentationml.notesSlide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3.xml" ContentType="application/vnd.openxmlformats-officedocument.presentationml.slide+xml"/>
  <Override PartName="/ppt/theme/theme2.xml" ContentType="application/vnd.openxmlformats-officedocument.theme+xml"/>
  <Override PartName="/ppt/theme/theme1.xml" ContentType="application/vnd.openxmlformats-officedocument.theme+xml"/>
  <Override PartName="/ppt/slides/slide3.xml" ContentType="application/vnd.openxmlformats-officedocument.presentationml.slide+xml"/>
  <Override PartName="/ppt/slideLayouts/slideLayout4.xml" ContentType="application/vnd.openxmlformats-officedocument.presentationml.slideLayout+xml"/>
  <Override PartName="/ppt/notesSlides/notesSlide5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s/slide12.xml" ContentType="application/vnd.openxmlformats-officedocument.presentationml.slide+xml"/>
  <Override PartName="/ppt/slideLayouts/slideLayout5.xml" ContentType="application/vnd.openxmlformats-officedocument.presentationml.slideLayout+xml"/>
  <Override PartName="/ppt/slides/slide7.xml" ContentType="application/vnd.openxmlformats-officedocument.presentationml.slide+xml"/>
  <Override PartName="/ppt/notesSlides/notesSlide2.xml" ContentType="application/vnd.openxmlformats-officedocument.presentationml.notesSlide+xml"/>
  <Override PartName="/ppt/notesSlides/notesSlide4.xml" ContentType="application/vnd.openxmlformats-officedocument.presentationml.notesSlide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Layouts/slideLayout2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8.xml" ContentType="application/vnd.openxmlformats-officedocument.presentationml.slideLayout+xml"/>
  <Override PartName="/docProps/core.xml" ContentType="application/vnd.openxmlformats-package.core-properties+xml"/>
  <Override PartName="/ppt/slideLayouts/slideLayout6.xml" ContentType="application/vnd.openxmlformats-officedocument.presentationml.slideLayout+xml"/>
  <Override PartName="/ppt/notesSlides/notesSlide11.xml" ContentType="application/vnd.openxmlformats-officedocument.presentationml.notesSlide+xml"/>
  <Override PartName="/ppt/slides/slide10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slides/slide5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3.xml" ContentType="application/vnd.openxmlformats-officedocument.presentationml.notesSlide+xml"/>
  <Override PartName="/ppt/slideLayouts/slideLayout7.xml" ContentType="application/vnd.openxmlformats-officedocument.presentationml.slideLayout+xml"/>
  <Override PartName="/ppt/slides/slide15.xml" ContentType="application/vnd.openxmlformats-officedocument.presentationml.slide+xml"/>
  <Override PartName="/ppt/slides/slide4.xml" ContentType="application/vnd.openxmlformats-officedocument.presentationml.slide+xml"/>
  <Override PartName="/ppt/notesSlides/notesSlide6.xml" ContentType="application/vnd.openxmlformats-officedocument.presentationml.notesSlide+xml"/>
  <Override PartName="/ppt/presentation.xml" ContentType="application/vnd.openxmlformats-officedocument.presentationml.presentation.main+xml"/>
  <Override PartName="/ppt/notesSlides/notesSlide7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aveSubsetFonts="1">
  <p:sldMasterIdLst>
    <p:sldMasterId id="2147483648" r:id="rId1"/>
  </p:sldMasterIdLst>
  <p:notesMasterIdLst>
    <p:notesMasterId r:id="rId19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</p:sldIdLst>
  <p:sldSz cx="9144000" cy="5143500" type="screen4x3"/>
  <p:notesSz cx="6858000" cy="9144000"/>
  <p:defaultTextStyle>
    <a:defPPr>
      <a:defRPr lang="en-US"/>
    </a:defPPr>
    <a:lvl1pPr marL="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pos="2160" orient="horz"/>
        <p:guide pos="2880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 /><Relationship Id="rId21" Type="http://schemas.openxmlformats.org/officeDocument/2006/relationships/tableStyles" Target="tableStyles.xml" /><Relationship Id="rId22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77013C1-0BC1-213A-ADFD-58A641456BF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262CB97-7098-B3A8-1FE0-EFE9EED26A0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0C2D59E-4899-24DF-6D98-B6B0EBCD7C0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EB65931-FDD7-4707-A6CF-8CE6346D213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9DA1074-888D-EBB4-D451-FA33BDAB944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2F2310C-A5E5-815A-5C1C-CBF31CB88A2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E46EA8F-B2DC-B637-B3C4-65335142415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9C285CE-71F1-D23C-4C97-EAB53879E4E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234AE95-6A6F-95EF-3A3E-9AECF4EAA16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FC06D0D-E5E7-4070-54E7-D39860ECFC0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D957E2D-48C0-4CDA-B177-4688FCE8B8A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B7E7CC7-ACD1-97DC-F1CB-196EC5C6DAB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7A25D4A-2327-E00E-8030-9ED49650BEA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40901CB-7FE5-F622-E558-B0CD729F7C0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B329E6C-3ED3-932A-101A-EE5531BED07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6489037" name="Title 1"/>
          <p:cNvSpPr>
            <a:spLocks noGrp="1"/>
          </p:cNvSpPr>
          <p:nvPr>
            <p:ph type="ctrTitle"/>
          </p:nvPr>
        </p:nvSpPr>
        <p:spPr bwMode="auto">
          <a:xfrm>
            <a:off x="685800" y="2130425"/>
            <a:ext cx="7772400" cy="1470025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468993975" name="Subtitle 2"/>
          <p:cNvSpPr>
            <a:spLocks noGrp="1"/>
          </p:cNvSpPr>
          <p:nvPr>
            <p:ph type="subTitle" idx="1"/>
          </p:nvPr>
        </p:nvSpPr>
        <p:spPr bwMode="auto">
          <a:xfrm>
            <a:off x="1371600" y="3886200"/>
            <a:ext cx="6400800" cy="175259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204464570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96753519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7535903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559142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387671843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12290569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81383346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0308311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7165255" name="Title 1"/>
          <p:cNvSpPr>
            <a:spLocks noGrp="1"/>
          </p:cNvSpPr>
          <p:nvPr>
            <p:ph type="title"/>
          </p:nvPr>
        </p:nvSpPr>
        <p:spPr bwMode="auto"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50923867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46140224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69659452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9920359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20373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208449843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66803270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09000652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2092699455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30016949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85838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8530937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798093412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696855574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859902651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10139355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500701053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79639486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061767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454408408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568159709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56428815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94644970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609490337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71678116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7264220" name="Title 1"/>
          <p:cNvSpPr>
            <a:spLocks noGrp="1"/>
          </p:cNvSpPr>
          <p:nvPr>
            <p:ph type="title"/>
          </p:nvPr>
        </p:nvSpPr>
        <p:spPr bwMode="auto"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434808181" name="Content Placeholder 2"/>
          <p:cNvSpPr>
            <a:spLocks noGrp="1"/>
          </p:cNvSpPr>
          <p:nvPr>
            <p:ph idx="1"/>
          </p:nvPr>
        </p:nvSpPr>
        <p:spPr bwMode="auto"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28595458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592251895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553099807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57195361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9404419" name="Title 1"/>
          <p:cNvSpPr>
            <a:spLocks noGrp="1"/>
          </p:cNvSpPr>
          <p:nvPr>
            <p:ph type="title"/>
          </p:nvPr>
        </p:nvSpPr>
        <p:spPr bwMode="auto"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81843373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en-US"/>
          </a:p>
        </p:txBody>
      </p:sp>
      <p:sp>
        <p:nvSpPr>
          <p:cNvPr id="1340405461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472552446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08235932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7665112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008159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72582400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74852506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77443602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1703785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03726245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6629400" y="274638"/>
            <a:ext cx="2057400" cy="5851525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60790800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457200" y="274638"/>
            <a:ext cx="6019800" cy="5851525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32644743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11557818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29353950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7092872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950872990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722188186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450403985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81031570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5775726" name="TextBox 1"/>
          <p:cNvSpPr txBox="1"/>
          <p:nvPr/>
        </p:nvSpPr>
        <p:spPr bwMode="auto">
          <a:xfrm>
            <a:off x="914400" y="16459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003366"/>
                </a:solidFill>
              </a:defRPr>
            </a:pPr>
            <a:r>
              <a:rPr/>
              <a:t>icpX</a:t>
            </a:r>
            <a:endParaRPr/>
          </a:p>
        </p:txBody>
      </p:sp>
      <p:sp>
        <p:nvSpPr>
          <p:cNvPr id="301558047" name="TextBox 2"/>
          <p:cNvSpPr txBox="1"/>
          <p:nvPr/>
        </p:nvSpPr>
        <p:spPr bwMode="auto">
          <a:xfrm>
            <a:off x="1663265" y="2743200"/>
            <a:ext cx="5818188" cy="4575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666666"/>
                </a:solidFill>
              </a:defRPr>
            </a:pPr>
            <a:r>
              <a:rPr/>
              <a:t>A Competitive Programming Productivity App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990760" name="TextBox 1"/>
          <p:cNvSpPr txBox="1"/>
          <p:nvPr/>
        </p:nvSpPr>
        <p:spPr bwMode="auto"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rPr/>
              <a:t>Project Overview</a:t>
            </a:r>
            <a:endParaRPr/>
          </a:p>
        </p:txBody>
      </p:sp>
      <p:sp>
        <p:nvSpPr>
          <p:cNvPr id="1833432005" name="TextBox 2"/>
          <p:cNvSpPr txBox="1"/>
          <p:nvPr/>
        </p:nvSpPr>
        <p:spPr bwMode="auto">
          <a:xfrm>
            <a:off x="731520" y="1280160"/>
            <a:ext cx="76809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rPr/>
              <a:t>• A comprehensive CP-based app with rating feature</a:t>
            </a:r>
            <a:endParaRPr/>
          </a:p>
          <a:p>
            <a:pPr>
              <a:spcAft>
                <a:spcPts val="1000"/>
              </a:spcAft>
              <a:defRPr sz="1800"/>
            </a:pPr>
            <a:r>
              <a:rPr/>
              <a:t>• Available for both mobile and PC platforms</a:t>
            </a:r>
            <a:endParaRPr/>
          </a:p>
          <a:p>
            <a:pPr>
              <a:spcAft>
                <a:spcPts val="1000"/>
              </a:spcAft>
              <a:defRPr sz="1800"/>
            </a:pPr>
            <a:r>
              <a:rPr/>
              <a:t>• Single-user application with personalized tracking</a:t>
            </a:r>
            <a:endParaRPr/>
          </a:p>
          <a:p>
            <a:pPr>
              <a:spcAft>
                <a:spcPts val="1000"/>
              </a:spcAft>
              <a:defRPr sz="1800"/>
            </a:pPr>
            <a:r>
              <a:rPr/>
              <a:t>• Built with JavaFX, Java, and SQLite</a:t>
            </a:r>
            <a:endParaRPr/>
          </a:p>
          <a:p>
            <a:pPr>
              <a:spcAft>
                <a:spcPts val="1000"/>
              </a:spcAft>
              <a:defRPr sz="1800"/>
            </a:pPr>
            <a:r>
              <a:rPr/>
              <a:t>• Maven-based project structure</a:t>
            </a:r>
            <a:endParaRPr/>
          </a:p>
          <a:p>
            <a:pPr>
              <a:spcAft>
                <a:spcPts val="1000"/>
              </a:spcAft>
              <a:defRPr sz="1800"/>
            </a:pPr>
            <a:r>
              <a:rPr/>
              <a:t>• Professional UI with theme customization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6223998" name="TextBox 1"/>
          <p:cNvSpPr txBox="1"/>
          <p:nvPr/>
        </p:nvSpPr>
        <p:spPr bwMode="auto"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rPr/>
              <a:t>Contest Section</a:t>
            </a:r>
            <a:endParaRPr/>
          </a:p>
        </p:txBody>
      </p:sp>
      <p:sp>
        <p:nvSpPr>
          <p:cNvPr id="2072901161" name="TextBox 2"/>
          <p:cNvSpPr txBox="1"/>
          <p:nvPr/>
        </p:nvSpPr>
        <p:spPr bwMode="auto">
          <a:xfrm>
            <a:off x="731520" y="1280160"/>
            <a:ext cx="76809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rPr/>
              <a:t>• Upcoming Contests: List contests from different OJs with countdown timers</a:t>
            </a:r>
            <a:endParaRPr/>
          </a:p>
          <a:p>
            <a:pPr>
              <a:spcAft>
                <a:spcPts val="1000"/>
              </a:spcAft>
              <a:defRPr sz="1800"/>
            </a:pPr>
            <a:r>
              <a:rPr/>
              <a:t>• Running Contests: Display currently active contests</a:t>
            </a:r>
            <a:endParaRPr/>
          </a:p>
          <a:p>
            <a:pPr>
              <a:spcAft>
                <a:spcPts val="1000"/>
              </a:spcAft>
              <a:defRPr sz="1800"/>
            </a:pPr>
            <a:r>
              <a:rPr/>
              <a:t>• Past Contests: Archive of completed contests with pagination</a:t>
            </a:r>
            <a:endParaRPr/>
          </a:p>
          <a:p>
            <a:pPr>
              <a:spcAft>
                <a:spcPts val="1000"/>
              </a:spcAft>
              <a:defRPr sz="1800"/>
            </a:pPr>
            <a:r>
              <a:rPr/>
              <a:t>• Database-driven contest management</a:t>
            </a:r>
            <a:endParaRPr/>
          </a:p>
          <a:p>
            <a:pPr>
              <a:spcAft>
                <a:spcPts val="1000"/>
              </a:spcAft>
              <a:defRPr sz="1800"/>
            </a:pPr>
            <a:r>
              <a:rPr/>
              <a:t>• Multi-platform contest aggregation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3904808" name="TextBox 1"/>
          <p:cNvSpPr txBox="1"/>
          <p:nvPr/>
        </p:nvSpPr>
        <p:spPr bwMode="auto"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rPr/>
              <a:t>Upsolve Section</a:t>
            </a:r>
            <a:endParaRPr/>
          </a:p>
        </p:txBody>
      </p:sp>
      <p:sp>
        <p:nvSpPr>
          <p:cNvPr id="178720737" name="TextBox 2"/>
          <p:cNvSpPr txBox="1"/>
          <p:nvPr/>
        </p:nvSpPr>
        <p:spPr bwMode="auto">
          <a:xfrm>
            <a:off x="731520" y="1280160"/>
            <a:ext cx="76809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rPr/>
              <a:t>• Solve unsolved problems from completed contests</a:t>
            </a:r>
            <a:endParaRPr/>
          </a:p>
          <a:p>
            <a:pPr>
              <a:spcAft>
                <a:spcPts val="1000"/>
              </a:spcAft>
              <a:defRPr sz="1800"/>
            </a:pPr>
            <a:r>
              <a:rPr/>
              <a:t>• Target-based problem selection (C, D, E difficulty levels)</a:t>
            </a:r>
            <a:endParaRPr/>
          </a:p>
          <a:p>
            <a:pPr>
              <a:spcAft>
                <a:spcPts val="1000"/>
              </a:spcAft>
              <a:defRPr sz="1800"/>
            </a:pPr>
            <a:r>
              <a:rPr/>
              <a:t>• Time-limited problem solving</a:t>
            </a:r>
            <a:endParaRPr/>
          </a:p>
          <a:p>
            <a:pPr>
              <a:spcAft>
                <a:spcPts val="1000"/>
              </a:spcAft>
              <a:defRPr sz="1800"/>
            </a:pPr>
            <a:r>
              <a:rPr/>
              <a:t>• Rating increase (+10) for timely completion</a:t>
            </a:r>
            <a:endParaRPr/>
          </a:p>
          <a:p>
            <a:pPr>
              <a:spcAft>
                <a:spcPts val="1000"/>
              </a:spcAft>
              <a:defRPr sz="1800"/>
            </a:pPr>
            <a:r>
              <a:rPr/>
              <a:t>• Rating decrease (-10) for missed deadlines</a:t>
            </a:r>
            <a:endParaRPr/>
          </a:p>
          <a:p>
            <a:pPr>
              <a:spcAft>
                <a:spcPts val="1000"/>
              </a:spcAft>
              <a:defRPr sz="1800"/>
            </a:pPr>
            <a:r>
              <a:rPr/>
              <a:t>• Automatic rating adjustment system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1909279" name="TextBox 1"/>
          <p:cNvSpPr txBox="1"/>
          <p:nvPr/>
        </p:nvSpPr>
        <p:spPr bwMode="auto"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rPr/>
              <a:t>Target Section - Overview</a:t>
            </a:r>
            <a:endParaRPr/>
          </a:p>
        </p:txBody>
      </p:sp>
      <p:sp>
        <p:nvSpPr>
          <p:cNvPr id="631800356" name="TextBox 2"/>
          <p:cNvSpPr txBox="1"/>
          <p:nvPr/>
        </p:nvSpPr>
        <p:spPr bwMode="auto">
          <a:xfrm>
            <a:off x="731520" y="1280160"/>
            <a:ext cx="76809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rPr/>
              <a:t>• Daily and weekly target setting</a:t>
            </a:r>
            <a:endParaRPr/>
          </a:p>
          <a:p>
            <a:pPr>
              <a:spcAft>
                <a:spcPts val="1000"/>
              </a:spcAft>
              <a:defRPr sz="1800"/>
            </a:pPr>
            <a:r>
              <a:rPr/>
              <a:t>• Two types of targets: Problem Solving &amp; Topic Learning</a:t>
            </a:r>
            <a:endParaRPr/>
          </a:p>
          <a:p>
            <a:pPr>
              <a:spcAft>
                <a:spcPts val="1000"/>
              </a:spcAft>
              <a:defRPr sz="1800"/>
            </a:pPr>
            <a:r>
              <a:rPr/>
              <a:t>• Integration with online judges via API</a:t>
            </a:r>
            <a:endParaRPr/>
          </a:p>
          <a:p>
            <a:pPr>
              <a:spcAft>
                <a:spcPts val="1000"/>
              </a:spcAft>
              <a:defRPr sz="1800"/>
            </a:pPr>
            <a:r>
              <a:rPr/>
              <a:t>• Proof submission for topic learning (PDF/DOCX/Google Drive)</a:t>
            </a:r>
            <a:endParaRPr/>
          </a:p>
          <a:p>
            <a:pPr>
              <a:spcAft>
                <a:spcPts val="1000"/>
              </a:spcAft>
              <a:defRPr sz="1800"/>
            </a:pPr>
            <a:r>
              <a:rPr/>
              <a:t>• Automatic status verification</a:t>
            </a:r>
            <a:endParaRPr/>
          </a:p>
          <a:p>
            <a:pPr>
              <a:spcAft>
                <a:spcPts val="1000"/>
              </a:spcAft>
              <a:defRPr sz="1800"/>
            </a:pPr>
            <a:r>
              <a:rPr/>
              <a:t>• Rating-based accountability system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4806855" name="TextBox 1"/>
          <p:cNvSpPr txBox="1"/>
          <p:nvPr/>
        </p:nvSpPr>
        <p:spPr bwMode="auto"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rPr/>
              <a:t>Target: Problem Solving</a:t>
            </a:r>
            <a:endParaRPr/>
          </a:p>
        </p:txBody>
      </p:sp>
      <p:sp>
        <p:nvSpPr>
          <p:cNvPr id="366821418" name="TextBox 2"/>
          <p:cNvSpPr txBox="1"/>
          <p:nvPr/>
        </p:nvSpPr>
        <p:spPr bwMode="auto">
          <a:xfrm>
            <a:off x="731520" y="1280160"/>
            <a:ext cx="76809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rPr/>
              <a:t>• Add problem targets via OJ links</a:t>
            </a:r>
            <a:endParaRPr/>
          </a:p>
          <a:p>
            <a:pPr>
              <a:spcAft>
                <a:spcPts val="1000"/>
              </a:spcAft>
              <a:defRPr sz="1800"/>
            </a:pPr>
            <a:r>
              <a:rPr/>
              <a:t>• Submit solutions directly to the OJ</a:t>
            </a:r>
            <a:endParaRPr/>
          </a:p>
          <a:p>
            <a:pPr>
              <a:spcAft>
                <a:spcPts val="1000"/>
              </a:spcAft>
              <a:defRPr sz="1800"/>
            </a:pPr>
            <a:r>
              <a:rPr/>
              <a:t>• Check Status button for API-based verification</a:t>
            </a:r>
            <a:endParaRPr/>
          </a:p>
          <a:p>
            <a:pPr>
              <a:spcAft>
                <a:spcPts val="1000"/>
              </a:spcAft>
              <a:defRPr sz="1800"/>
            </a:pPr>
            <a:r>
              <a:rPr/>
              <a:t>• Automatic verdict detection (Accepted/Wrong Answer)</a:t>
            </a:r>
            <a:endParaRPr/>
          </a:p>
          <a:p>
            <a:pPr>
              <a:spcAft>
                <a:spcPts val="1000"/>
              </a:spcAft>
              <a:defRPr sz="1800"/>
            </a:pPr>
            <a:r>
              <a:rPr/>
              <a:t>• Rating: +5*K for completion (K = total problems)</a:t>
            </a:r>
            <a:endParaRPr/>
          </a:p>
          <a:p>
            <a:pPr>
              <a:spcAft>
                <a:spcPts val="1000"/>
              </a:spcAft>
              <a:defRPr sz="1800"/>
            </a:pPr>
            <a:r>
              <a:rPr/>
              <a:t>• Rating: -(3*K - 2*Y) for failure (Y = solved problems)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8351265" name="TextBox 1"/>
          <p:cNvSpPr txBox="1"/>
          <p:nvPr/>
        </p:nvSpPr>
        <p:spPr bwMode="auto"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rPr/>
              <a:t>Target: Topic Learning</a:t>
            </a:r>
            <a:endParaRPr/>
          </a:p>
        </p:txBody>
      </p:sp>
      <p:sp>
        <p:nvSpPr>
          <p:cNvPr id="131217987" name="TextBox 2"/>
          <p:cNvSpPr txBox="1"/>
          <p:nvPr/>
        </p:nvSpPr>
        <p:spPr bwMode="auto">
          <a:xfrm>
            <a:off x="731520" y="1280160"/>
            <a:ext cx="76809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rPr/>
              <a:t>• Add topic name and reference URL</a:t>
            </a:r>
            <a:endParaRPr/>
          </a:p>
          <a:p>
            <a:pPr>
              <a:spcAft>
                <a:spcPts val="1000"/>
              </a:spcAft>
              <a:defRPr sz="1800"/>
            </a:pPr>
            <a:r>
              <a:rPr/>
              <a:t>• Submit proof of completion (documents/links)</a:t>
            </a:r>
            <a:endParaRPr/>
          </a:p>
          <a:p>
            <a:pPr>
              <a:spcAft>
                <a:spcPts val="1000"/>
              </a:spcAft>
              <a:defRPr sz="1800"/>
            </a:pPr>
            <a:r>
              <a:rPr/>
              <a:t>• Manual verification system</a:t>
            </a:r>
            <a:endParaRPr/>
          </a:p>
          <a:p>
            <a:pPr>
              <a:spcAft>
                <a:spcPts val="1000"/>
              </a:spcAft>
              <a:defRPr sz="1800"/>
            </a:pPr>
            <a:r>
              <a:rPr/>
              <a:t>• Rating: +7 for completion</a:t>
            </a:r>
            <a:endParaRPr/>
          </a:p>
          <a:p>
            <a:pPr>
              <a:spcAft>
                <a:spcPts val="1000"/>
              </a:spcAft>
              <a:defRPr sz="1800"/>
            </a:pPr>
            <a:r>
              <a:rPr/>
              <a:t>• Rating: -3 for failure</a:t>
            </a:r>
            <a:endParaRPr/>
          </a:p>
          <a:p>
            <a:pPr>
              <a:spcAft>
                <a:spcPts val="1000"/>
              </a:spcAft>
              <a:defRPr sz="1800"/>
            </a:pPr>
            <a:r>
              <a:rPr/>
              <a:t>• Encourages continuous learning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8145903" name="TextBox 1"/>
          <p:cNvSpPr txBox="1"/>
          <p:nvPr/>
        </p:nvSpPr>
        <p:spPr bwMode="auto"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rPr/>
              <a:t>User Dashboard</a:t>
            </a:r>
            <a:endParaRPr/>
          </a:p>
        </p:txBody>
      </p:sp>
      <p:sp>
        <p:nvSpPr>
          <p:cNvPr id="787760074" name="TextBox 2"/>
          <p:cNvSpPr txBox="1"/>
          <p:nvPr/>
        </p:nvSpPr>
        <p:spPr bwMode="auto">
          <a:xfrm>
            <a:off x="731520" y="1280160"/>
            <a:ext cx="76809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rPr/>
              <a:t>• Rating graph (Codeforces-style visualization)</a:t>
            </a:r>
            <a:endParaRPr/>
          </a:p>
          <a:p>
            <a:pPr>
              <a:spcAft>
                <a:spcPts val="1000"/>
              </a:spcAft>
              <a:defRPr sz="1800"/>
            </a:pPr>
            <a:r>
              <a:rPr/>
              <a:t>• Heatmap of problem-solving activity</a:t>
            </a:r>
            <a:endParaRPr/>
          </a:p>
          <a:p>
            <a:pPr>
              <a:spcAft>
                <a:spcPts val="1000"/>
              </a:spcAft>
              <a:defRPr sz="1800"/>
            </a:pPr>
            <a:r>
              <a:rPr/>
              <a:t>• Total solved problems with detailed view</a:t>
            </a:r>
            <a:endParaRPr/>
          </a:p>
          <a:p>
            <a:pPr>
              <a:spcAft>
                <a:spcPts val="1000"/>
              </a:spcAft>
              <a:defRPr sz="1800"/>
            </a:pPr>
            <a:r>
              <a:rPr/>
              <a:t>• Total topics learned with proof links</a:t>
            </a:r>
            <a:endParaRPr/>
          </a:p>
          <a:p>
            <a:pPr>
              <a:spcAft>
                <a:spcPts val="1000"/>
              </a:spcAft>
              <a:defRPr sz="1800"/>
            </a:pPr>
            <a:r>
              <a:rPr/>
              <a:t>• Comprehensive progress tracking</a:t>
            </a:r>
            <a:endParaRPr/>
          </a:p>
          <a:p>
            <a:pPr>
              <a:spcAft>
                <a:spcPts val="1000"/>
              </a:spcAft>
              <a:defRPr sz="1800"/>
            </a:pPr>
            <a:r>
              <a:rPr/>
              <a:t>• Visual analytics for motivation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90999039" name="TextBox 1"/>
          <p:cNvSpPr txBox="1"/>
          <p:nvPr/>
        </p:nvSpPr>
        <p:spPr bwMode="auto"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rPr/>
              <a:t>Rating Distribution System</a:t>
            </a:r>
            <a:endParaRPr/>
          </a:p>
        </p:txBody>
      </p:sp>
      <p:sp>
        <p:nvSpPr>
          <p:cNvPr id="1681669586" name="TextBox 2"/>
          <p:cNvSpPr txBox="1"/>
          <p:nvPr/>
        </p:nvSpPr>
        <p:spPr bwMode="auto">
          <a:xfrm>
            <a:off x="457200" y="1280160"/>
            <a:ext cx="41148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/>
            </a:pPr>
            <a:r>
              <a:rPr/>
              <a:t>Upsolving:</a:t>
            </a:r>
            <a:endParaRPr/>
          </a:p>
          <a:p>
            <a:pPr>
              <a:spcAft>
                <a:spcPts val="800"/>
              </a:spcAft>
              <a:defRPr sz="1600"/>
            </a:pPr>
            <a:r>
              <a:rPr/>
              <a:t>  • Target achieved: +10</a:t>
            </a:r>
            <a:endParaRPr/>
          </a:p>
          <a:p>
            <a:pPr>
              <a:spcAft>
                <a:spcPts val="800"/>
              </a:spcAft>
              <a:defRPr sz="1600"/>
            </a:pPr>
            <a:r>
              <a:rPr/>
              <a:t>  • Not achieved: -10</a:t>
            </a:r>
            <a:endParaRPr/>
          </a:p>
          <a:p>
            <a:pPr>
              <a:spcAft>
                <a:spcPts val="800"/>
              </a:spcAft>
              <a:defRPr sz="1600"/>
            </a:pPr>
            <a:endParaRPr/>
          </a:p>
          <a:p>
            <a:pPr>
              <a:spcAft>
                <a:spcPts val="800"/>
              </a:spcAft>
              <a:defRPr sz="1600"/>
            </a:pPr>
            <a:r>
              <a:rPr/>
              <a:t>Problem Solving:</a:t>
            </a:r>
            <a:endParaRPr/>
          </a:p>
          <a:p>
            <a:pPr>
              <a:spcAft>
                <a:spcPts val="800"/>
              </a:spcAft>
              <a:defRPr sz="1600"/>
            </a:pPr>
            <a:r>
              <a:rPr/>
              <a:t>  • Achieved: +5*K</a:t>
            </a:r>
            <a:endParaRPr/>
          </a:p>
          <a:p>
            <a:pPr>
              <a:spcAft>
                <a:spcPts val="800"/>
              </a:spcAft>
              <a:defRPr sz="1600"/>
            </a:pPr>
            <a:r>
              <a:rPr/>
              <a:t>  • Failed: -(3*K - 2*Y)</a:t>
            </a:r>
            <a:endParaRPr/>
          </a:p>
          <a:p>
            <a:pPr>
              <a:spcAft>
                <a:spcPts val="800"/>
              </a:spcAft>
              <a:defRPr sz="1600"/>
            </a:pPr>
            <a:r>
              <a:rPr/>
              <a:t>  K = total problems</a:t>
            </a:r>
            <a:endParaRPr/>
          </a:p>
          <a:p>
            <a:pPr>
              <a:spcAft>
                <a:spcPts val="800"/>
              </a:spcAft>
              <a:defRPr sz="1600"/>
            </a:pPr>
            <a:r>
              <a:rPr/>
              <a:t>  Y = solved problems</a:t>
            </a:r>
            <a:endParaRPr/>
          </a:p>
        </p:txBody>
      </p:sp>
      <p:sp>
        <p:nvSpPr>
          <p:cNvPr id="1419632629" name="TextBox 3"/>
          <p:cNvSpPr txBox="1"/>
          <p:nvPr/>
        </p:nvSpPr>
        <p:spPr bwMode="auto">
          <a:xfrm>
            <a:off x="4754880" y="1280160"/>
            <a:ext cx="41148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/>
            </a:pPr>
            <a:r>
              <a:rPr/>
              <a:t>Topic Learning:</a:t>
            </a:r>
            <a:endParaRPr/>
          </a:p>
          <a:p>
            <a:pPr>
              <a:spcAft>
                <a:spcPts val="800"/>
              </a:spcAft>
              <a:defRPr sz="1600"/>
            </a:pPr>
            <a:r>
              <a:rPr/>
              <a:t>  • Learned: +7</a:t>
            </a:r>
            <a:endParaRPr/>
          </a:p>
          <a:p>
            <a:pPr>
              <a:spcAft>
                <a:spcPts val="800"/>
              </a:spcAft>
              <a:defRPr sz="1600"/>
            </a:pPr>
            <a:r>
              <a:rPr/>
              <a:t>  • Not learned: -3</a:t>
            </a:r>
            <a:endParaRPr/>
          </a:p>
          <a:p>
            <a:pPr>
              <a:spcAft>
                <a:spcPts val="800"/>
              </a:spcAft>
              <a:defRPr sz="1600"/>
            </a:pPr>
            <a:endParaRPr/>
          </a:p>
          <a:p>
            <a:pPr>
              <a:spcAft>
                <a:spcPts val="800"/>
              </a:spcAft>
              <a:defRPr sz="1600"/>
            </a:pPr>
            <a:r>
              <a:rPr/>
              <a:t>Penalty System:</a:t>
            </a:r>
            <a:endParaRPr/>
          </a:p>
          <a:p>
            <a:pPr>
              <a:spcAft>
                <a:spcPts val="800"/>
              </a:spcAft>
              <a:defRPr sz="1600"/>
            </a:pPr>
            <a:r>
              <a:rPr/>
              <a:t>  • Deleting daily target: Rating deduction</a:t>
            </a:r>
            <a:endParaRPr/>
          </a:p>
          <a:p>
            <a:pPr>
              <a:spcAft>
                <a:spcPts val="800"/>
              </a:spcAft>
              <a:defRPr sz="1600"/>
            </a:pPr>
            <a:r>
              <a:rPr/>
              <a:t>  • Missing deadlines: Rating deduction</a:t>
            </a:r>
            <a:endParaRPr/>
          </a:p>
          <a:p>
            <a:pPr>
              <a:spcAft>
                <a:spcPts val="800"/>
              </a:spcAft>
              <a:defRPr sz="1600"/>
            </a:pPr>
            <a:r>
              <a:rPr/>
              <a:t>  • Accountability-driven approach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757169" name="TextBox 1"/>
          <p:cNvSpPr txBox="1"/>
          <p:nvPr/>
        </p:nvSpPr>
        <p:spPr bwMode="auto"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rPr/>
              <a:t>Authentication &amp; Security</a:t>
            </a:r>
            <a:endParaRPr/>
          </a:p>
        </p:txBody>
      </p:sp>
      <p:sp>
        <p:nvSpPr>
          <p:cNvPr id="544202600" name="TextBox 2"/>
          <p:cNvSpPr txBox="1"/>
          <p:nvPr/>
        </p:nvSpPr>
        <p:spPr bwMode="auto">
          <a:xfrm>
            <a:off x="731520" y="1280160"/>
            <a:ext cx="76809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rPr/>
              <a:t>• Single-user application design</a:t>
            </a:r>
            <a:endParaRPr/>
          </a:p>
          <a:p>
            <a:pPr>
              <a:spcAft>
                <a:spcPts val="1000"/>
              </a:spcAft>
              <a:defRPr sz="1800"/>
            </a:pPr>
            <a:r>
              <a:rPr/>
              <a:t>• One-time username and password setup</a:t>
            </a:r>
            <a:endParaRPr/>
          </a:p>
          <a:p>
            <a:pPr>
              <a:spcAft>
                <a:spcPts val="1000"/>
              </a:spcAft>
              <a:defRPr sz="1800"/>
            </a:pPr>
            <a:r>
              <a:rPr/>
              <a:t>• No logout functionality required</a:t>
            </a:r>
            <a:endParaRPr/>
          </a:p>
          <a:p>
            <a:pPr>
              <a:spcAft>
                <a:spcPts val="1000"/>
              </a:spcAft>
              <a:defRPr sz="1800"/>
            </a:pPr>
            <a:r>
              <a:rPr/>
              <a:t>• Optional startup password protection</a:t>
            </a:r>
            <a:endParaRPr/>
          </a:p>
          <a:p>
            <a:pPr>
              <a:spcAft>
                <a:spcPts val="1000"/>
              </a:spcAft>
              <a:defRPr sz="1800"/>
            </a:pPr>
            <a:r>
              <a:rPr/>
              <a:t>• Secure local data storage</a:t>
            </a:r>
            <a:endParaRPr/>
          </a:p>
          <a:p>
            <a:pPr>
              <a:spcAft>
                <a:spcPts val="1000"/>
              </a:spcAft>
              <a:defRPr sz="1800"/>
            </a:pPr>
            <a:r>
              <a:rPr/>
              <a:t>• Privacy-focused architecture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86748900" name="TextBox 1"/>
          <p:cNvSpPr txBox="1"/>
          <p:nvPr/>
        </p:nvSpPr>
        <p:spPr bwMode="auto"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rPr/>
              <a:t>Technical Stack</a:t>
            </a:r>
            <a:endParaRPr/>
          </a:p>
        </p:txBody>
      </p:sp>
      <p:sp>
        <p:nvSpPr>
          <p:cNvPr id="2133465355" name="TextBox 2"/>
          <p:cNvSpPr txBox="1"/>
          <p:nvPr/>
        </p:nvSpPr>
        <p:spPr bwMode="auto">
          <a:xfrm>
            <a:off x="731520" y="1280160"/>
            <a:ext cx="76809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rPr/>
              <a:t>• Language: Java</a:t>
            </a:r>
            <a:endParaRPr/>
          </a:p>
          <a:p>
            <a:pPr>
              <a:spcAft>
                <a:spcPts val="1000"/>
              </a:spcAft>
              <a:defRPr sz="1800"/>
            </a:pPr>
            <a:r>
              <a:rPr/>
              <a:t>• UI Framework: JavaFX</a:t>
            </a:r>
            <a:endParaRPr/>
          </a:p>
          <a:p>
            <a:pPr>
              <a:spcAft>
                <a:spcPts val="1000"/>
              </a:spcAft>
              <a:defRPr sz="1800"/>
            </a:pPr>
            <a:r>
              <a:rPr/>
              <a:t>• Database: SQLite</a:t>
            </a:r>
            <a:endParaRPr/>
          </a:p>
          <a:p>
            <a:pPr>
              <a:spcAft>
                <a:spcPts val="1000"/>
              </a:spcAft>
              <a:defRPr sz="1800"/>
            </a:pPr>
            <a:r>
              <a:rPr/>
              <a:t>• Build Tool: Maven</a:t>
            </a:r>
            <a:endParaRPr/>
          </a:p>
          <a:p>
            <a:pPr>
              <a:spcAft>
                <a:spcPts val="1000"/>
              </a:spcAft>
              <a:defRPr sz="1800"/>
            </a:pPr>
            <a:r>
              <a:rPr/>
              <a:t>• Future: Android SDK support</a:t>
            </a:r>
            <a:endParaRPr/>
          </a:p>
          <a:p>
            <a:pPr>
              <a:spcAft>
                <a:spcPts val="1000"/>
              </a:spcAft>
              <a:defRPr sz="1800"/>
            </a:pPr>
            <a:r>
              <a:rPr/>
              <a:t>• API Integration: Multiple online judges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9360773" name="TextBox 1"/>
          <p:cNvSpPr txBox="1"/>
          <p:nvPr/>
        </p:nvSpPr>
        <p:spPr bwMode="auto"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rPr/>
              <a:t>UI/UX Features</a:t>
            </a:r>
            <a:endParaRPr/>
          </a:p>
        </p:txBody>
      </p:sp>
      <p:sp>
        <p:nvSpPr>
          <p:cNvPr id="1631792154" name="TextBox 2"/>
          <p:cNvSpPr txBox="1"/>
          <p:nvPr/>
        </p:nvSpPr>
        <p:spPr bwMode="auto">
          <a:xfrm>
            <a:off x="731520" y="1280160"/>
            <a:ext cx="76809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rPr/>
              <a:t>• Professional and polished design</a:t>
            </a:r>
            <a:endParaRPr/>
          </a:p>
          <a:p>
            <a:pPr>
              <a:spcAft>
                <a:spcPts val="1000"/>
              </a:spcAft>
              <a:defRPr sz="1800"/>
            </a:pPr>
            <a:r>
              <a:rPr/>
              <a:t>• Multiple theme options</a:t>
            </a:r>
            <a:endParaRPr/>
          </a:p>
          <a:p>
            <a:pPr>
              <a:spcAft>
                <a:spcPts val="1000"/>
              </a:spcAft>
              <a:defRPr sz="1800"/>
            </a:pPr>
            <a:r>
              <a:rPr/>
              <a:t>• Customizable toolbar and sidebar positions</a:t>
            </a:r>
            <a:endParaRPr/>
          </a:p>
          <a:p>
            <a:pPr>
              <a:spcAft>
                <a:spcPts val="1000"/>
              </a:spcAft>
              <a:defRPr sz="1800"/>
            </a:pPr>
            <a:r>
              <a:rPr/>
              <a:t>• Responsive layout design</a:t>
            </a:r>
            <a:endParaRPr/>
          </a:p>
          <a:p>
            <a:pPr>
              <a:spcAft>
                <a:spcPts val="1000"/>
              </a:spcAft>
              <a:defRPr sz="1800"/>
            </a:pPr>
            <a:r>
              <a:rPr/>
              <a:t>• Intuitive navigation system</a:t>
            </a:r>
            <a:endParaRPr/>
          </a:p>
          <a:p>
            <a:pPr>
              <a:spcAft>
                <a:spcPts val="1000"/>
              </a:spcAft>
              <a:defRPr sz="1800"/>
            </a:pPr>
            <a:r>
              <a:rPr/>
              <a:t>• Modern competitive programming aesthetics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2854776" name="TextBox 1"/>
          <p:cNvSpPr txBox="1"/>
          <p:nvPr/>
        </p:nvSpPr>
        <p:spPr bwMode="auto"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rPr/>
              <a:t>Key Differentiators</a:t>
            </a:r>
            <a:endParaRPr/>
          </a:p>
        </p:txBody>
      </p:sp>
      <p:sp>
        <p:nvSpPr>
          <p:cNvPr id="840860426" name="TextBox 2"/>
          <p:cNvSpPr txBox="1"/>
          <p:nvPr/>
        </p:nvSpPr>
        <p:spPr bwMode="auto">
          <a:xfrm>
            <a:off x="731520" y="1280160"/>
            <a:ext cx="76809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rPr/>
              <a:t>• Gamified productivity with rating system</a:t>
            </a:r>
            <a:endParaRPr/>
          </a:p>
          <a:p>
            <a:pPr>
              <a:spcAft>
                <a:spcPts val="1000"/>
              </a:spcAft>
              <a:defRPr sz="1800"/>
            </a:pPr>
            <a:r>
              <a:rPr/>
              <a:t>• Accountability through rating penalties</a:t>
            </a:r>
            <a:endParaRPr/>
          </a:p>
          <a:p>
            <a:pPr>
              <a:spcAft>
                <a:spcPts val="1000"/>
              </a:spcAft>
              <a:defRPr sz="1800"/>
            </a:pPr>
            <a:r>
              <a:rPr/>
              <a:t>• Multi-platform contest aggregation</a:t>
            </a:r>
            <a:endParaRPr/>
          </a:p>
          <a:p>
            <a:pPr>
              <a:spcAft>
                <a:spcPts val="1000"/>
              </a:spcAft>
              <a:defRPr sz="1800"/>
            </a:pPr>
            <a:r>
              <a:rPr/>
              <a:t>• Automated verification via APIs</a:t>
            </a:r>
            <a:endParaRPr/>
          </a:p>
          <a:p>
            <a:pPr>
              <a:spcAft>
                <a:spcPts val="1000"/>
              </a:spcAft>
              <a:defRPr sz="1800"/>
            </a:pPr>
            <a:r>
              <a:rPr/>
              <a:t>• Comprehensive progress tracking</a:t>
            </a:r>
            <a:endParaRPr/>
          </a:p>
          <a:p>
            <a:pPr>
              <a:spcAft>
                <a:spcPts val="1000"/>
              </a:spcAft>
              <a:defRPr sz="1800"/>
            </a:pPr>
            <a:r>
              <a:rPr/>
              <a:t>• Inspired by vjudge.net and Codeforces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2502041" name="TextBox 1"/>
          <p:cNvSpPr txBox="1"/>
          <p:nvPr/>
        </p:nvSpPr>
        <p:spPr bwMode="auto"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rPr/>
              <a:t>Future Development</a:t>
            </a:r>
            <a:endParaRPr/>
          </a:p>
        </p:txBody>
      </p:sp>
      <p:sp>
        <p:nvSpPr>
          <p:cNvPr id="1973463865" name="TextBox 2"/>
          <p:cNvSpPr txBox="1"/>
          <p:nvPr/>
        </p:nvSpPr>
        <p:spPr bwMode="auto">
          <a:xfrm>
            <a:off x="731520" y="1280160"/>
            <a:ext cx="76809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rPr/>
              <a:t>• Android mobile application</a:t>
            </a:r>
            <a:endParaRPr/>
          </a:p>
          <a:p>
            <a:pPr>
              <a:spcAft>
                <a:spcPts val="1000"/>
              </a:spcAft>
              <a:defRPr sz="1800"/>
            </a:pPr>
            <a:r>
              <a:rPr/>
              <a:t>• Cross-platform synchronization</a:t>
            </a:r>
            <a:endParaRPr/>
          </a:p>
          <a:p>
            <a:pPr>
              <a:spcAft>
                <a:spcPts val="1000"/>
              </a:spcAft>
              <a:defRPr sz="1800"/>
            </a:pPr>
            <a:r>
              <a:rPr/>
              <a:t>• Additional OJ integrations</a:t>
            </a:r>
            <a:endParaRPr/>
          </a:p>
          <a:p>
            <a:pPr>
              <a:spcAft>
                <a:spcPts val="1000"/>
              </a:spcAft>
              <a:defRPr sz="1800"/>
            </a:pPr>
            <a:r>
              <a:rPr/>
              <a:t>• Advanced analytics and insights</a:t>
            </a:r>
            <a:endParaRPr/>
          </a:p>
          <a:p>
            <a:pPr>
              <a:spcAft>
                <a:spcPts val="1000"/>
              </a:spcAft>
              <a:defRPr sz="1800"/>
            </a:pPr>
            <a:r>
              <a:rPr/>
              <a:t>• Social features (optional)</a:t>
            </a:r>
            <a:endParaRPr/>
          </a:p>
          <a:p>
            <a:pPr>
              <a:spcAft>
                <a:spcPts val="1000"/>
              </a:spcAft>
              <a:defRPr sz="1800"/>
            </a:pPr>
            <a:r>
              <a:rPr/>
              <a:t>• Cloud backup support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6115938" name="TextBox 1"/>
          <p:cNvSpPr txBox="1"/>
          <p:nvPr/>
        </p:nvSpPr>
        <p:spPr bwMode="auto">
          <a:xfrm>
            <a:off x="914400" y="18288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003366"/>
                </a:solidFill>
              </a:defRPr>
            </a:pPr>
            <a:r>
              <a:rPr/>
              <a:t>Thank You!</a:t>
            </a:r>
            <a:endParaRPr/>
          </a:p>
        </p:txBody>
      </p:sp>
      <p:sp>
        <p:nvSpPr>
          <p:cNvPr id="1230561706" name="TextBox 2"/>
          <p:cNvSpPr txBox="1"/>
          <p:nvPr/>
        </p:nvSpPr>
        <p:spPr bwMode="auto">
          <a:xfrm>
            <a:off x="914400" y="32004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666666"/>
                </a:solidFill>
              </a:defRPr>
            </a:pPr>
            <a:r>
              <a:rPr/>
              <a:t>icpX - Elevate Your Competitive Programming Journey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ONLYOFFICE/9.1.0.173</Application>
  <PresentationFormat>On-screen Show (4:3)</PresentationFormat>
  <Paragraphs>0</Paragraphs>
  <Slides>15</Slides>
  <Notes>15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Manager/>
  <Company/>
  <LinksUpToDate>0</LinksUpToDate>
  <SharedDoc>0</SharedDoc>
  <HyperlinkBase/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/>
  <cp:revision>2</cp:revision>
  <dcterms:created xsi:type="dcterms:W3CDTF">2013-01-27T09:14:16Z</dcterms:created>
  <dcterms:modified xsi:type="dcterms:W3CDTF">2025-12-03T17:29:42Z</dcterms:modified>
  <cp:category/>
</cp:coreProperties>
</file>